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3E_BE39C73F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B4_B0F6BE4B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3" r:id="rId2"/>
    <p:sldId id="419" r:id="rId3"/>
    <p:sldId id="431" r:id="rId4"/>
    <p:sldId id="424" r:id="rId5"/>
    <p:sldId id="432" r:id="rId6"/>
    <p:sldId id="318" r:id="rId7"/>
    <p:sldId id="425" r:id="rId8"/>
    <p:sldId id="433" r:id="rId9"/>
    <p:sldId id="434" r:id="rId10"/>
    <p:sldId id="435" r:id="rId11"/>
    <p:sldId id="436" r:id="rId12"/>
    <p:sldId id="428" r:id="rId13"/>
    <p:sldId id="429" r:id="rId14"/>
    <p:sldId id="430" r:id="rId15"/>
    <p:sldId id="438" r:id="rId16"/>
    <p:sldId id="315" r:id="rId17"/>
    <p:sldId id="319" r:id="rId18"/>
    <p:sldId id="439" r:id="rId19"/>
    <p:sldId id="440" r:id="rId20"/>
    <p:sldId id="441" r:id="rId21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00" userDrawn="1">
          <p15:clr>
            <a:srgbClr val="A4A3A4"/>
          </p15:clr>
        </p15:guide>
        <p15:guide id="2" pos="64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757656AE-6D04-98FE-805D-5335BB06A92F}" name="eddie.k.project@outlook.com" initials="e" userId="4b0b8e43f7d5bed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7F7F7F"/>
    <a:srgbClr val="000000"/>
    <a:srgbClr val="FF0000"/>
    <a:srgbClr val="0070C0"/>
    <a:srgbClr val="822433"/>
    <a:srgbClr val="822333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7F6AA-C8C6-8A3C-CDB9-EE43CFA9025B}" v="586" dt="2026-05-27T15:21:43.836"/>
    <p1510:client id="{4C169282-D0F0-7B76-15AD-E6A5367EED7E}" v="149" dt="2026-05-27T18:49:10.562"/>
    <p1510:client id="{4C72E797-E8BA-22CE-0ACA-C41C266896ED}" v="164" dt="2026-05-27T13:28:54.717"/>
    <p1510:client id="{4F3770AE-D7AF-BB46-8722-E7E11CCF5C90}" v="3560" dt="2026-05-27T21:36:09.226"/>
    <p1510:client id="{754F024A-4EC9-7150-E745-F5B9A78C404A}" v="4" dt="2026-05-27T13:41:40.317"/>
    <p1510:client id="{79335DCC-980B-215D-8AD4-0492D97392F0}" v="391" dt="2026-05-27T11:54:00.262"/>
    <p1510:client id="{8E4B566D-DC13-140E-A0DB-DC600F87ADAE}" v="128" dt="2026-05-27T14:16:04.480"/>
    <p1510:client id="{D6DBAED2-C25D-5DDC-6F88-78AFAA6D997E}" v="3" dt="2026-05-27T12:41:01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3"/>
    <p:restoredTop sz="96301"/>
  </p:normalViewPr>
  <p:slideViewPr>
    <p:cSldViewPr snapToGrid="0">
      <p:cViewPr varScale="1">
        <p:scale>
          <a:sx n="122" d="100"/>
          <a:sy n="122" d="100"/>
        </p:scale>
        <p:origin x="1792" y="200"/>
      </p:cViewPr>
      <p:guideLst>
        <p:guide orient="horz" pos="5400"/>
        <p:guide pos="64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modernComment_1B4_B0F6BE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90E974-871B-F041-B807-176CD62F29B3}" authorId="{757656AE-6D04-98FE-805D-5335BB06A92F}" status="resolved" created="2026-05-26T21:29:24.691">
    <pc:sldMkLst xmlns:pc="http://schemas.microsoft.com/office/powerpoint/2013/main/command">
      <pc:docMk/>
      <pc:sldMk cId="232916717" sldId="307"/>
    </pc:sldMkLst>
    <p188:txBody>
      <a:bodyPr/>
      <a:lstStyle/>
      <a:p>
        <a:r>
          <a:rPr lang="en-US"/>
          <a:t>Identified the strongest positive and negative cross-drivers from the correlation results
Drivers represent institutional efficiency metrics that may influence sustainability performance
Compared drivers across universities to explore how operational efficiency aligns with sustainability outcomes</a:t>
        </a:r>
      </a:p>
    </p188:txBody>
  </p188:cm>
</p188:cmLst>
</file>

<file path=ppt/comments/modernComment_13E_BE39C7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95F1EB-C232-D742-889B-96FCEC8D24B0}" authorId="{757656AE-6D04-98FE-805D-5335BB06A92F}" created="2026-05-26T14:53:51.6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91457599" sldId="318"/>
      <ac:spMk id="9" creationId="{D4729036-4CAC-FDEA-21FC-A41E0FF43823}"/>
    </ac:deMkLst>
    <p188:txBody>
      <a:bodyPr/>
      <a:lstStyle/>
      <a:p>
        <a:r>
          <a:rPr lang="en-US"/>
          <a:t>When speaking •“We intentionally chose interpretable exploratory analysis over more complex optimisation models like DEA.”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8B0604D-136E-4A3A-8BCA-103CDDF5BF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CB8E873-39A0-49A1-B85D-5BCACBEAE6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160EDC5-6E2E-491E-8C7A-E09D8972A53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6FB1FC4-20B1-4FEE-BEFA-D3C4D87E5CC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60F4BE7-2744-C44D-BCA4-50FD13415904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A263C3-D299-41E9-A07B-56043798E0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A700F44-7622-49F5-BA95-C8AD8295C0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6BC64AA-974B-49BF-683A-66767A2DE1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B35728CE-9483-4590-A60A-678CF8486F4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Fare clic per modificare gli stili del testo dello schema</a:t>
            </a:r>
          </a:p>
          <a:p>
            <a:pPr lvl="1"/>
            <a:r>
              <a:rPr lang="it-IT" altLang="it-IT" noProof="0"/>
              <a:t>Secondo livello</a:t>
            </a:r>
          </a:p>
          <a:p>
            <a:pPr lvl="2"/>
            <a:r>
              <a:rPr lang="it-IT" altLang="it-IT" noProof="0"/>
              <a:t>Terzo livello</a:t>
            </a:r>
          </a:p>
          <a:p>
            <a:pPr lvl="3"/>
            <a:r>
              <a:rPr lang="it-IT" altLang="it-IT" noProof="0"/>
              <a:t>Quarto livello</a:t>
            </a:r>
          </a:p>
          <a:p>
            <a:pPr lvl="4"/>
            <a:r>
              <a:rPr lang="it-IT" altLang="it-IT" noProof="0"/>
              <a:t>Quinto livello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AE0F6C28-5E0B-4BA5-A6B8-BC8EFF2CE4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FA1CEE8-5CC7-4F1F-9A5E-80C4D82716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AE2F643-BCEA-A448-889A-FB135CFCF57C}" type="slidenum">
              <a:rPr lang="it-IT" altLang="it-IT"/>
              <a:pPr/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1BA88C21-D95B-89FA-761F-95B0E8E4F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5F30307-8F1A-6743-A136-E0D71BCBC4AE}" type="slidenum">
              <a:rPr lang="it-IT" altLang="it-IT" sz="1200">
                <a:solidFill>
                  <a:schemeClr val="tx1"/>
                </a:solidFill>
              </a:rPr>
              <a:pPr/>
              <a:t>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2E645AC-141F-534E-D21C-FEE7E2AE45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571607D0-43E1-F38E-0DF8-F5EB54B8D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35DB-7004-D2A1-DAF1-B232639F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54C9EBB-AD5F-A153-166D-FF7FF6476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2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8DF6D26-45F9-8B43-6171-224269F2C0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EAE0019-AF2D-23AE-76E0-4A89F2F5C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Science </a:t>
            </a:r>
            <a:r>
              <a:rPr lang="it-IT" altLang="it-IT" b="1" err="1"/>
              <a:t>is</a:t>
            </a:r>
            <a:r>
              <a:rPr lang="it-IT" altLang="it-IT" b="1"/>
              <a:t> </a:t>
            </a:r>
            <a:r>
              <a:rPr lang="it-IT" altLang="it-IT" b="1" err="1"/>
              <a:t>constantly</a:t>
            </a:r>
            <a:r>
              <a:rPr lang="it-IT" altLang="it-IT" b="1"/>
              <a:t> </a:t>
            </a:r>
            <a:r>
              <a:rPr lang="it-IT" altLang="it-IT" b="1" err="1"/>
              <a:t>evaluated</a:t>
            </a:r>
            <a:endParaRPr lang="it-IT" altLang="it-IT" b="1"/>
          </a:p>
          <a:p>
            <a:pPr eaLnBrk="1" hangingPunct="1"/>
            <a:r>
              <a:rPr lang="it-IT" altLang="it-IT"/>
              <a:t>Evaluation </a:t>
            </a:r>
            <a:r>
              <a:rPr lang="it-IT" altLang="it-IT" err="1"/>
              <a:t>determines</a:t>
            </a:r>
            <a:r>
              <a:rPr lang="it-IT" altLang="it-IT"/>
              <a:t> careers, funding, and </a:t>
            </a:r>
            <a:r>
              <a:rPr lang="it-IT" altLang="it-IT" err="1"/>
              <a:t>reputation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 err="1"/>
              <a:t>Used</a:t>
            </a:r>
            <a:r>
              <a:rPr lang="it-IT" altLang="it-IT" b="1"/>
              <a:t> in:</a:t>
            </a:r>
          </a:p>
          <a:p>
            <a:pPr eaLnBrk="1" hangingPunct="1"/>
            <a:r>
              <a:rPr lang="it-IT" altLang="it-IT"/>
              <a:t>University rankings</a:t>
            </a:r>
          </a:p>
          <a:p>
            <a:pPr eaLnBrk="1" hangingPunct="1"/>
            <a:r>
              <a:rPr lang="it-IT" altLang="it-IT"/>
              <a:t>Journal </a:t>
            </a:r>
            <a:r>
              <a:rPr lang="it-IT" altLang="it-IT" err="1"/>
              <a:t>publication</a:t>
            </a:r>
            <a:r>
              <a:rPr lang="it-IT" altLang="it-IT"/>
              <a:t> </a:t>
            </a:r>
            <a:r>
              <a:rPr lang="it-IT" altLang="it-IT" err="1"/>
              <a:t>decisions</a:t>
            </a:r>
            <a:endParaRPr lang="it-IT" altLang="it-IT"/>
          </a:p>
          <a:p>
            <a:pPr eaLnBrk="1" hangingPunct="1"/>
            <a:r>
              <a:rPr lang="it-IT" altLang="it-IT"/>
              <a:t>Grant and </a:t>
            </a:r>
            <a:r>
              <a:rPr lang="it-IT" altLang="it-IT" err="1"/>
              <a:t>fellowship</a:t>
            </a:r>
            <a:r>
              <a:rPr lang="it-IT" altLang="it-IT"/>
              <a:t> </a:t>
            </a:r>
            <a:r>
              <a:rPr lang="it-IT" altLang="it-IT" err="1"/>
              <a:t>selection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/>
              <a:t>Peer review and </a:t>
            </a:r>
            <a:r>
              <a:rPr lang="it-IT" altLang="it-IT" b="1" err="1"/>
              <a:t>citation</a:t>
            </a:r>
            <a:r>
              <a:rPr lang="it-IT" altLang="it-IT" b="1"/>
              <a:t> </a:t>
            </a:r>
            <a:r>
              <a:rPr lang="it-IT" altLang="it-IT" b="1" err="1"/>
              <a:t>metrics</a:t>
            </a:r>
            <a:r>
              <a:rPr lang="it-IT" altLang="it-IT" b="1"/>
              <a:t> are the </a:t>
            </a:r>
            <a:r>
              <a:rPr lang="it-IT" altLang="it-IT" b="1" err="1"/>
              <a:t>main</a:t>
            </a:r>
            <a:r>
              <a:rPr lang="it-IT" altLang="it-IT" b="1"/>
              <a:t> tools</a:t>
            </a:r>
          </a:p>
          <a:p>
            <a:pPr eaLnBrk="1" hangingPunct="1"/>
            <a:r>
              <a:rPr lang="it-IT" altLang="it-IT" err="1"/>
              <a:t>They</a:t>
            </a:r>
            <a:r>
              <a:rPr lang="it-IT" altLang="it-IT"/>
              <a:t> act </a:t>
            </a:r>
            <a:r>
              <a:rPr lang="it-IT" altLang="it-IT" err="1"/>
              <a:t>as</a:t>
            </a:r>
            <a:r>
              <a:rPr lang="it-IT" altLang="it-IT"/>
              <a:t> </a:t>
            </a:r>
            <a:r>
              <a:rPr lang="it-IT" altLang="it-IT" err="1"/>
              <a:t>indicators</a:t>
            </a:r>
            <a:r>
              <a:rPr lang="it-IT" altLang="it-IT"/>
              <a:t> of </a:t>
            </a:r>
            <a:r>
              <a:rPr lang="it-IT" altLang="it-IT" err="1"/>
              <a:t>scientific</a:t>
            </a:r>
            <a:r>
              <a:rPr lang="it-IT" altLang="it-IT"/>
              <a:t> </a:t>
            </a:r>
            <a:r>
              <a:rPr lang="it-IT" altLang="it-IT" err="1"/>
              <a:t>quality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 i="1"/>
              <a:t>Peer review </a:t>
            </a:r>
            <a:r>
              <a:rPr lang="it-IT" altLang="it-IT" b="1" i="1" err="1"/>
              <a:t>seen</a:t>
            </a:r>
            <a:r>
              <a:rPr lang="it-IT" altLang="it-IT" b="1" i="1"/>
              <a:t> </a:t>
            </a:r>
            <a:r>
              <a:rPr lang="it-IT" altLang="it-IT" b="1" i="1" err="1"/>
              <a:t>as</a:t>
            </a:r>
            <a:r>
              <a:rPr lang="it-IT" altLang="it-IT" b="1" i="1"/>
              <a:t> </a:t>
            </a:r>
            <a:r>
              <a:rPr lang="it-IT" altLang="it-IT" b="1" i="1" err="1"/>
              <a:t>central</a:t>
            </a:r>
            <a:r>
              <a:rPr lang="it-IT" altLang="it-IT" b="1" i="1"/>
              <a:t> social control in science</a:t>
            </a:r>
          </a:p>
        </p:txBody>
      </p:sp>
    </p:spTree>
    <p:extLst>
      <p:ext uri="{BB962C8B-B14F-4D97-AF65-F5344CB8AC3E}">
        <p14:creationId xmlns:p14="http://schemas.microsoft.com/office/powerpoint/2010/main" val="116396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Citation databases owned by corporations</a:t>
            </a:r>
          </a:p>
          <a:p>
            <a:r>
              <a:rPr lang="en-US"/>
              <a:t>Publishing dominated by few companies</a:t>
            </a:r>
          </a:p>
          <a:p>
            <a:endParaRPr lang="en-US"/>
          </a:p>
          <a:p>
            <a:r>
              <a:rPr lang="en-US" b="1"/>
              <a:t>Rankings create global data industry</a:t>
            </a:r>
          </a:p>
          <a:p>
            <a:r>
              <a:rPr lang="en-US"/>
              <a:t>Knowledge becomes measurable</a:t>
            </a:r>
          </a:p>
          <a:p>
            <a:r>
              <a:rPr lang="en-US"/>
              <a:t>Knowledge becomes tradable</a:t>
            </a:r>
          </a:p>
          <a:p>
            <a:r>
              <a:rPr lang="en-US"/>
              <a:t>Knowledge becomes profitable</a:t>
            </a:r>
          </a:p>
          <a:p>
            <a:endParaRPr lang="en-US"/>
          </a:p>
          <a:p>
            <a:r>
              <a:rPr lang="en-US" b="1"/>
              <a:t>Rankings linked to global capitalism with power held by</a:t>
            </a:r>
            <a:endParaRPr lang="en-US"/>
          </a:p>
          <a:p>
            <a:r>
              <a:rPr lang="en-US"/>
              <a:t>Publishers</a:t>
            </a:r>
          </a:p>
          <a:p>
            <a:r>
              <a:rPr lang="en-US"/>
              <a:t>Data companies</a:t>
            </a:r>
          </a:p>
          <a:p>
            <a:r>
              <a:rPr lang="en-US"/>
              <a:t>Information industries</a:t>
            </a:r>
          </a:p>
          <a:p>
            <a:endParaRPr lang="en-US"/>
          </a:p>
          <a:p>
            <a:r>
              <a:rPr lang="en-US" b="1"/>
              <a:t>Universities advertise ranking position</a:t>
            </a:r>
          </a:p>
          <a:p>
            <a:r>
              <a:rPr lang="en-US"/>
              <a:t>Students choose using rankings</a:t>
            </a:r>
          </a:p>
          <a:p>
            <a:r>
              <a:rPr lang="en-US"/>
              <a:t>Governments fund using rankings</a:t>
            </a:r>
          </a:p>
          <a:p>
            <a:endParaRPr lang="en-US"/>
          </a:p>
          <a:p>
            <a:r>
              <a:rPr lang="en-US" b="1" i="1"/>
              <a:t>Once rankings exist</a:t>
            </a:r>
          </a:p>
          <a:p>
            <a:r>
              <a:rPr lang="en-US" b="1" i="1"/>
              <a:t>Impossible to ignore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F643-BCEA-A448-889A-FB135CFCF57C}" type="slidenum">
              <a:rPr lang="it-IT" altLang="it-IT" smtClean="0"/>
              <a:pPr/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250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7D41-C5A3-A7CD-68AF-3F4AE48A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0972C058-CB65-DC7D-E634-FC366E42E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4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81157E3-691B-35E8-CE40-34EED8DDD2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C5765F7-0B25-7D51-9DBE-AE3971233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 u="sng"/>
              <a:t>Two </a:t>
            </a:r>
            <a:r>
              <a:rPr lang="it-IT" altLang="it-IT" b="1" u="sng" err="1"/>
              <a:t>main</a:t>
            </a:r>
            <a:r>
              <a:rPr lang="it-IT" altLang="it-IT" b="1" u="sng"/>
              <a:t> theories of </a:t>
            </a:r>
            <a:r>
              <a:rPr lang="it-IT" altLang="it-IT" b="1" u="sng" err="1"/>
              <a:t>citing</a:t>
            </a:r>
            <a:endParaRPr lang="it-IT" altLang="it-IT" b="1" u="sng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/>
              <a:t>Normative theory</a:t>
            </a:r>
          </a:p>
          <a:p>
            <a:pPr eaLnBrk="1" hangingPunct="1"/>
            <a:r>
              <a:rPr lang="it-IT" altLang="it-IT"/>
              <a:t>Scientists </a:t>
            </a:r>
            <a:r>
              <a:rPr lang="it-IT" altLang="it-IT" err="1"/>
              <a:t>cite</a:t>
            </a:r>
            <a:r>
              <a:rPr lang="it-IT" altLang="it-IT"/>
              <a:t> work </a:t>
            </a:r>
            <a:r>
              <a:rPr lang="it-IT" altLang="it-IT" err="1"/>
              <a:t>they</a:t>
            </a:r>
            <a:r>
              <a:rPr lang="it-IT" altLang="it-IT"/>
              <a:t> use</a:t>
            </a:r>
          </a:p>
          <a:p>
            <a:pPr eaLnBrk="1" hangingPunct="1"/>
            <a:r>
              <a:rPr lang="it-IT" altLang="it-IT" err="1"/>
              <a:t>Citations</a:t>
            </a:r>
            <a:r>
              <a:rPr lang="it-IT" altLang="it-IT"/>
              <a:t> show </a:t>
            </a:r>
            <a:r>
              <a:rPr lang="it-IT" altLang="it-IT" err="1"/>
              <a:t>intellectual</a:t>
            </a:r>
            <a:r>
              <a:rPr lang="it-IT" altLang="it-IT"/>
              <a:t> </a:t>
            </a:r>
            <a:r>
              <a:rPr lang="it-IT" altLang="it-IT" err="1"/>
              <a:t>influence</a:t>
            </a:r>
            <a:endParaRPr lang="it-IT" altLang="it-IT"/>
          </a:p>
          <a:p>
            <a:pPr eaLnBrk="1" hangingPunct="1"/>
            <a:r>
              <a:rPr lang="it-IT" altLang="it-IT" err="1"/>
              <a:t>Citations</a:t>
            </a:r>
            <a:r>
              <a:rPr lang="it-IT" altLang="it-IT"/>
              <a:t> </a:t>
            </a:r>
            <a:r>
              <a:rPr lang="it-IT" altLang="it-IT" err="1"/>
              <a:t>give</a:t>
            </a:r>
            <a:r>
              <a:rPr lang="it-IT" altLang="it-IT"/>
              <a:t> credit</a:t>
            </a:r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/>
              <a:t>Social </a:t>
            </a:r>
            <a:r>
              <a:rPr lang="it-IT" altLang="it-IT" b="1" err="1"/>
              <a:t>constructivist</a:t>
            </a:r>
            <a:r>
              <a:rPr lang="it-IT" altLang="it-IT" b="1"/>
              <a:t> theory</a:t>
            </a:r>
          </a:p>
          <a:p>
            <a:pPr eaLnBrk="1" hangingPunct="1"/>
            <a:r>
              <a:rPr lang="it-IT" altLang="it-IT" err="1"/>
              <a:t>Citations</a:t>
            </a:r>
            <a:r>
              <a:rPr lang="it-IT" altLang="it-IT"/>
              <a:t> </a:t>
            </a:r>
            <a:r>
              <a:rPr lang="it-IT" altLang="it-IT" err="1"/>
              <a:t>influenced</a:t>
            </a:r>
            <a:r>
              <a:rPr lang="it-IT" altLang="it-IT"/>
              <a:t> by social </a:t>
            </a:r>
            <a:r>
              <a:rPr lang="it-IT" altLang="it-IT" err="1"/>
              <a:t>factors</a:t>
            </a:r>
            <a:endParaRPr lang="it-IT" altLang="it-IT"/>
          </a:p>
          <a:p>
            <a:pPr eaLnBrk="1" hangingPunct="1"/>
            <a:r>
              <a:rPr lang="it-IT" altLang="it-IT"/>
              <a:t>- Networks</a:t>
            </a:r>
          </a:p>
          <a:p>
            <a:pPr eaLnBrk="1" hangingPunct="1"/>
            <a:r>
              <a:rPr lang="it-IT" altLang="it-IT"/>
              <a:t>- Prestige</a:t>
            </a:r>
          </a:p>
          <a:p>
            <a:pPr eaLnBrk="1" hangingPunct="1"/>
            <a:r>
              <a:rPr lang="it-IT" altLang="it-IT"/>
              <a:t>- </a:t>
            </a:r>
            <a:r>
              <a:rPr lang="it-IT" altLang="it-IT" err="1"/>
              <a:t>Resources</a:t>
            </a:r>
            <a:endParaRPr lang="it-IT" altLang="it-IT"/>
          </a:p>
          <a:p>
            <a:pPr eaLnBrk="1" hangingPunct="1"/>
            <a:r>
              <a:rPr lang="it-IT" altLang="it-IT"/>
              <a:t>- </a:t>
            </a:r>
            <a:r>
              <a:rPr lang="it-IT" altLang="it-IT" err="1"/>
              <a:t>Politics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 err="1"/>
              <a:t>Citations</a:t>
            </a:r>
            <a:r>
              <a:rPr lang="it-IT" altLang="it-IT" b="1"/>
              <a:t> </a:t>
            </a:r>
            <a:r>
              <a:rPr lang="it-IT" altLang="it-IT" b="1" err="1"/>
              <a:t>not</a:t>
            </a:r>
            <a:r>
              <a:rPr lang="it-IT" altLang="it-IT" b="1"/>
              <a:t> </a:t>
            </a:r>
            <a:r>
              <a:rPr lang="it-IT" altLang="it-IT" b="1" err="1"/>
              <a:t>purely</a:t>
            </a:r>
            <a:r>
              <a:rPr lang="it-IT" altLang="it-IT" b="1"/>
              <a:t> </a:t>
            </a:r>
            <a:r>
              <a:rPr lang="it-IT" altLang="it-IT" b="1" err="1"/>
              <a:t>objective</a:t>
            </a:r>
            <a:endParaRPr lang="it-IT" altLang="it-IT" b="1"/>
          </a:p>
          <a:p>
            <a:pPr eaLnBrk="1" hangingPunct="1"/>
            <a:r>
              <a:rPr lang="it-IT" altLang="it-IT"/>
              <a:t>Scientific impact </a:t>
            </a:r>
            <a:r>
              <a:rPr lang="it-IT" altLang="it-IT" err="1"/>
              <a:t>not</a:t>
            </a:r>
            <a:r>
              <a:rPr lang="it-IT" altLang="it-IT"/>
              <a:t> </a:t>
            </a:r>
            <a:r>
              <a:rPr lang="it-IT" altLang="it-IT" err="1"/>
              <a:t>only</a:t>
            </a:r>
            <a:r>
              <a:rPr lang="it-IT" altLang="it-IT"/>
              <a:t> </a:t>
            </a:r>
            <a:r>
              <a:rPr lang="it-IT" altLang="it-IT" err="1"/>
              <a:t>reason</a:t>
            </a:r>
            <a:r>
              <a:rPr lang="it-IT" altLang="it-IT"/>
              <a:t> for </a:t>
            </a:r>
            <a:r>
              <a:rPr lang="it-IT" altLang="it-IT" err="1"/>
              <a:t>citing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 err="1"/>
              <a:t>Citation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</a:t>
            </a:r>
            <a:r>
              <a:rPr lang="it-IT" altLang="it-IT" b="1" err="1"/>
              <a:t>is</a:t>
            </a:r>
            <a:r>
              <a:rPr lang="it-IT" altLang="it-IT" b="1"/>
              <a:t> </a:t>
            </a:r>
            <a:r>
              <a:rPr lang="it-IT" altLang="it-IT" b="1" err="1"/>
              <a:t>complex</a:t>
            </a:r>
            <a:endParaRPr lang="it-IT" altLang="it-IT" b="1"/>
          </a:p>
          <a:p>
            <a:pPr eaLnBrk="1" hangingPunct="1"/>
            <a:r>
              <a:rPr lang="it-IT" altLang="it-IT"/>
              <a:t>Not a </a:t>
            </a:r>
            <a:r>
              <a:rPr lang="it-IT" altLang="it-IT" err="1"/>
              <a:t>perfect</a:t>
            </a:r>
            <a:r>
              <a:rPr lang="it-IT" altLang="it-IT"/>
              <a:t> </a:t>
            </a:r>
            <a:r>
              <a:rPr lang="it-IT" altLang="it-IT" err="1"/>
              <a:t>indicator</a:t>
            </a:r>
            <a:r>
              <a:rPr lang="it-IT" altLang="it-IT"/>
              <a:t> of </a:t>
            </a:r>
            <a:r>
              <a:rPr lang="it-IT" altLang="it-IT" err="1"/>
              <a:t>quality</a:t>
            </a:r>
            <a:endParaRPr lang="it-IT" altLang="it-IT"/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 b="1" i="1" err="1"/>
              <a:t>This</a:t>
            </a:r>
            <a:r>
              <a:rPr lang="it-IT" altLang="it-IT" b="1" i="1"/>
              <a:t> </a:t>
            </a:r>
            <a:r>
              <a:rPr lang="it-IT" altLang="it-IT" b="1" i="1" err="1"/>
              <a:t>explains</a:t>
            </a:r>
            <a:r>
              <a:rPr lang="it-IT" altLang="it-IT" b="1" i="1"/>
              <a:t> </a:t>
            </a:r>
            <a:r>
              <a:rPr lang="it-IT" altLang="it-IT" b="1" i="1" err="1"/>
              <a:t>why</a:t>
            </a:r>
            <a:r>
              <a:rPr lang="it-IT" altLang="it-IT" b="1" i="1"/>
              <a:t> </a:t>
            </a:r>
            <a:r>
              <a:rPr lang="it-IT" altLang="it-IT" b="1" i="1" err="1"/>
              <a:t>citation</a:t>
            </a:r>
            <a:r>
              <a:rPr lang="it-IT" altLang="it-IT" b="1" i="1"/>
              <a:t> </a:t>
            </a:r>
            <a:r>
              <a:rPr lang="it-IT" altLang="it-IT" b="1" i="1" err="1"/>
              <a:t>metrics</a:t>
            </a:r>
            <a:r>
              <a:rPr lang="it-IT" altLang="it-IT" b="1" i="1"/>
              <a:t> are </a:t>
            </a:r>
            <a:r>
              <a:rPr lang="it-IT" altLang="it-IT" b="1" i="1" err="1"/>
              <a:t>imperfect</a:t>
            </a:r>
            <a:endParaRPr lang="it-IT" altLang="it-IT" b="1" i="1"/>
          </a:p>
        </p:txBody>
      </p:sp>
    </p:spTree>
    <p:extLst>
      <p:ext uri="{BB962C8B-B14F-4D97-AF65-F5344CB8AC3E}">
        <p14:creationId xmlns:p14="http://schemas.microsoft.com/office/powerpoint/2010/main" val="3609929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B98A-60D7-ED2E-1A91-47C55F1E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027D297A-924E-D378-2F6C-8DB57E7BE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1E71460-2A63-2FE1-4551-78673F938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A56136C-D1AD-7856-7F7C-4F6363255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The paper </a:t>
            </a:r>
            <a:r>
              <a:rPr lang="it-IT" altLang="it-IT" b="1" err="1"/>
              <a:t>analyses</a:t>
            </a:r>
            <a:r>
              <a:rPr lang="it-IT" altLang="it-IT" b="1"/>
              <a:t> the rise of global </a:t>
            </a:r>
            <a:r>
              <a:rPr lang="it-IT" altLang="it-IT" b="1" err="1"/>
              <a:t>university</a:t>
            </a:r>
            <a:r>
              <a:rPr lang="it-IT" altLang="it-IT" b="1"/>
              <a:t> rankings</a:t>
            </a:r>
          </a:p>
          <a:p>
            <a:pPr eaLnBrk="1" hangingPunct="1"/>
            <a:r>
              <a:rPr lang="it-IT" altLang="it-IT" b="0"/>
              <a:t>Focus on </a:t>
            </a:r>
            <a:r>
              <a:rPr lang="it-IT" altLang="it-IT" b="0" err="1"/>
              <a:t>metrics</a:t>
            </a:r>
            <a:r>
              <a:rPr lang="it-IT" altLang="it-IT" b="0"/>
              <a:t>, performance </a:t>
            </a:r>
            <a:r>
              <a:rPr lang="it-IT" altLang="it-IT" b="0" err="1"/>
              <a:t>measurement</a:t>
            </a:r>
            <a:r>
              <a:rPr lang="it-IT" altLang="it-IT" b="0"/>
              <a:t>, and governance</a:t>
            </a:r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part of </a:t>
            </a:r>
            <a:r>
              <a:rPr lang="it-IT" altLang="it-IT" b="1" err="1"/>
              <a:t>wider</a:t>
            </a:r>
            <a:r>
              <a:rPr lang="it-IT" altLang="it-IT" b="1"/>
              <a:t> </a:t>
            </a:r>
            <a:r>
              <a:rPr lang="it-IT" altLang="it-IT" b="1" err="1"/>
              <a:t>changes</a:t>
            </a:r>
            <a:r>
              <a:rPr lang="it-IT" altLang="it-IT" b="1"/>
              <a:t> in </a:t>
            </a:r>
            <a:r>
              <a:rPr lang="it-IT" altLang="it-IT" b="1" err="1"/>
              <a:t>higher</a:t>
            </a:r>
            <a:r>
              <a:rPr lang="it-IT" altLang="it-IT" b="1"/>
              <a:t> </a:t>
            </a:r>
            <a:r>
              <a:rPr lang="it-IT" altLang="it-IT" b="1" err="1"/>
              <a:t>education</a:t>
            </a:r>
            <a:endParaRPr lang="it-IT" altLang="it-IT" b="1"/>
          </a:p>
          <a:p>
            <a:pPr eaLnBrk="1" hangingPunct="1"/>
            <a:r>
              <a:rPr lang="it-IT" altLang="it-IT" b="0" err="1"/>
              <a:t>Linked</a:t>
            </a:r>
            <a:r>
              <a:rPr lang="it-IT" altLang="it-IT" b="0"/>
              <a:t> to </a:t>
            </a:r>
            <a:r>
              <a:rPr lang="it-IT" altLang="it-IT" b="0" err="1"/>
              <a:t>globalisation</a:t>
            </a:r>
            <a:endParaRPr lang="it-IT" altLang="it-IT" b="0"/>
          </a:p>
          <a:p>
            <a:pPr eaLnBrk="1" hangingPunct="1"/>
            <a:r>
              <a:rPr lang="it-IT" altLang="it-IT" b="0" err="1"/>
              <a:t>Commercialisation</a:t>
            </a:r>
            <a:r>
              <a:rPr lang="it-IT" altLang="it-IT" b="0"/>
              <a:t> of knowledge</a:t>
            </a:r>
          </a:p>
          <a:p>
            <a:pPr eaLnBrk="1" hangingPunct="1"/>
            <a:r>
              <a:rPr lang="it-IT" altLang="it-IT" b="0"/>
              <a:t>Audit culture</a:t>
            </a:r>
          </a:p>
          <a:p>
            <a:pPr eaLnBrk="1" hangingPunct="1"/>
            <a:r>
              <a:rPr lang="it-IT" altLang="it-IT" b="0" err="1"/>
              <a:t>Neoliberal</a:t>
            </a:r>
            <a:r>
              <a:rPr lang="it-IT" altLang="it-IT" b="0"/>
              <a:t> policy </a:t>
            </a:r>
            <a:r>
              <a:rPr lang="it-IT" altLang="it-IT" b="0" err="1"/>
              <a:t>ideas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Universities</a:t>
            </a:r>
            <a:r>
              <a:rPr lang="it-IT" altLang="it-IT" b="1"/>
              <a:t> </a:t>
            </a:r>
            <a:r>
              <a:rPr lang="it-IT" altLang="it-IT" b="1" err="1"/>
              <a:t>increasingly</a:t>
            </a:r>
            <a:r>
              <a:rPr lang="it-IT" altLang="it-IT" b="1"/>
              <a:t> </a:t>
            </a:r>
            <a:r>
              <a:rPr lang="it-IT" altLang="it-IT" b="1" err="1"/>
              <a:t>compared</a:t>
            </a:r>
            <a:r>
              <a:rPr lang="it-IT" altLang="it-IT" b="1"/>
              <a:t> </a:t>
            </a:r>
            <a:r>
              <a:rPr lang="it-IT" altLang="it-IT" b="1" err="1"/>
              <a:t>using</a:t>
            </a:r>
            <a:r>
              <a:rPr lang="it-IT" altLang="it-IT" b="1"/>
              <a:t> </a:t>
            </a:r>
            <a:r>
              <a:rPr lang="it-IT" altLang="it-IT" b="1" err="1"/>
              <a:t>numbers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influence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of institutions</a:t>
            </a:r>
          </a:p>
          <a:p>
            <a:pPr eaLnBrk="1" hangingPunct="1"/>
            <a:r>
              <a:rPr lang="it-IT" altLang="it-IT" b="0" err="1"/>
              <a:t>They</a:t>
            </a:r>
            <a:r>
              <a:rPr lang="it-IT" altLang="it-IT" b="0"/>
              <a:t> are </a:t>
            </a:r>
            <a:r>
              <a:rPr lang="it-IT" altLang="it-IT" b="0" err="1"/>
              <a:t>not</a:t>
            </a:r>
            <a:r>
              <a:rPr lang="it-IT" altLang="it-IT" b="0"/>
              <a:t> </a:t>
            </a:r>
            <a:r>
              <a:rPr lang="it-IT" altLang="it-IT" b="0" err="1"/>
              <a:t>neutral</a:t>
            </a:r>
            <a:r>
              <a:rPr lang="it-IT" altLang="it-IT" b="0"/>
              <a:t> tools</a:t>
            </a:r>
          </a:p>
          <a:p>
            <a:pPr eaLnBrk="1" hangingPunct="1"/>
            <a:r>
              <a:rPr lang="it-IT" altLang="it-IT" b="0" err="1"/>
              <a:t>They</a:t>
            </a:r>
            <a:r>
              <a:rPr lang="it-IT" altLang="it-IT" b="0"/>
              <a:t> </a:t>
            </a:r>
            <a:r>
              <a:rPr lang="it-IT" altLang="it-IT" b="0" err="1"/>
              <a:t>shape</a:t>
            </a:r>
            <a:r>
              <a:rPr lang="it-IT" altLang="it-IT" b="0"/>
              <a:t> </a:t>
            </a:r>
            <a:r>
              <a:rPr lang="it-IT" altLang="it-IT" b="0" err="1"/>
              <a:t>decisions</a:t>
            </a:r>
            <a:r>
              <a:rPr lang="it-IT" altLang="it-IT" b="0"/>
              <a:t> and </a:t>
            </a:r>
            <a:r>
              <a:rPr lang="it-IT" altLang="it-IT" b="0" err="1"/>
              <a:t>priorities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connected</a:t>
            </a:r>
            <a:r>
              <a:rPr lang="it-IT" altLang="it-IT" b="1"/>
              <a:t> to global </a:t>
            </a:r>
            <a:r>
              <a:rPr lang="it-IT" altLang="it-IT" b="1" err="1"/>
              <a:t>competition</a:t>
            </a:r>
            <a:endParaRPr lang="it-IT" altLang="it-IT" b="1"/>
          </a:p>
          <a:p>
            <a:pPr eaLnBrk="1" hangingPunct="1"/>
            <a:r>
              <a:rPr lang="it-IT" altLang="it-IT" b="0" err="1"/>
              <a:t>Universities</a:t>
            </a:r>
            <a:r>
              <a:rPr lang="it-IT" altLang="it-IT" b="0"/>
              <a:t> compete </a:t>
            </a:r>
            <a:r>
              <a:rPr lang="it-IT" altLang="it-IT" b="0" err="1"/>
              <a:t>internationally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Main</a:t>
            </a:r>
            <a:r>
              <a:rPr lang="it-IT" altLang="it-IT" b="1"/>
              <a:t> idea:</a:t>
            </a:r>
          </a:p>
          <a:p>
            <a:pPr eaLnBrk="1" hangingPunct="1"/>
            <a:r>
              <a:rPr lang="it-IT" altLang="it-IT" b="0"/>
              <a:t>Rankings are part of a </a:t>
            </a:r>
            <a:r>
              <a:rPr lang="it-IT" altLang="it-IT" b="0" err="1"/>
              <a:t>larger</a:t>
            </a:r>
            <a:r>
              <a:rPr lang="it-IT" altLang="it-IT" b="0"/>
              <a:t> </a:t>
            </a:r>
            <a:r>
              <a:rPr lang="it-IT" altLang="it-IT" b="0" err="1"/>
              <a:t>transformation</a:t>
            </a:r>
            <a:r>
              <a:rPr lang="it-IT" altLang="it-IT" b="0"/>
              <a:t> of </a:t>
            </a:r>
            <a:r>
              <a:rPr lang="it-IT" altLang="it-IT" b="0" err="1"/>
              <a:t>higher</a:t>
            </a:r>
            <a:r>
              <a:rPr lang="it-IT" altLang="it-IT" b="0"/>
              <a:t> </a:t>
            </a:r>
            <a:r>
              <a:rPr lang="it-IT" altLang="it-IT" b="0" err="1"/>
              <a:t>education</a:t>
            </a:r>
            <a:endParaRPr lang="it-IT" altLang="it-IT" b="0"/>
          </a:p>
        </p:txBody>
      </p:sp>
    </p:spTree>
    <p:extLst>
      <p:ext uri="{BB962C8B-B14F-4D97-AF65-F5344CB8AC3E}">
        <p14:creationId xmlns:p14="http://schemas.microsoft.com/office/powerpoint/2010/main" val="190981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A5CA-E3E9-D377-4232-0A102030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3525F9-3218-FDAF-34AA-1AFFA92786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C59CDCF-F349-700F-F160-C6696EF62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47A7519-8A6C-7AD7-2890-D7E6C0AC6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0" dirty="0" err="1"/>
              <a:t>We</a:t>
            </a:r>
            <a:r>
              <a:rPr lang="it-IT" altLang="it-IT" b="0" dirty="0"/>
              <a:t> </a:t>
            </a:r>
            <a:r>
              <a:rPr lang="it-IT" altLang="it-IT" b="0" dirty="0" err="1"/>
              <a:t>intentionally</a:t>
            </a:r>
            <a:r>
              <a:rPr lang="it-IT" altLang="it-IT" b="0" dirty="0"/>
              <a:t> </a:t>
            </a:r>
            <a:r>
              <a:rPr lang="it-IT" altLang="it-IT" b="0" dirty="0" err="1"/>
              <a:t>used</a:t>
            </a:r>
            <a:r>
              <a:rPr lang="it-IT" altLang="it-IT" b="0" dirty="0"/>
              <a:t> a </a:t>
            </a:r>
            <a:r>
              <a:rPr lang="it-IT" altLang="it-IT" b="0" dirty="0" err="1"/>
              <a:t>simple</a:t>
            </a:r>
            <a:r>
              <a:rPr lang="it-IT" altLang="it-IT" b="0" dirty="0"/>
              <a:t> Pearson </a:t>
            </a:r>
            <a:r>
              <a:rPr lang="it-IT" altLang="it-IT" b="0" dirty="0" err="1"/>
              <a:t>correlation</a:t>
            </a:r>
            <a:r>
              <a:rPr lang="it-IT" altLang="it-IT" b="0" dirty="0"/>
              <a:t> </a:t>
            </a:r>
            <a:r>
              <a:rPr lang="it-IT" altLang="it-IT" b="0" dirty="0" err="1"/>
              <a:t>approach</a:t>
            </a:r>
            <a:r>
              <a:rPr lang="it-IT" altLang="it-IT" b="0" dirty="0"/>
              <a:t> to </a:t>
            </a:r>
            <a:r>
              <a:rPr lang="it-IT" altLang="it-IT" b="0" dirty="0" err="1"/>
              <a:t>keep</a:t>
            </a:r>
            <a:r>
              <a:rPr lang="it-IT" altLang="it-IT" b="0" dirty="0"/>
              <a:t> the framework </a:t>
            </a:r>
            <a:r>
              <a:rPr lang="it-IT" altLang="it-IT" b="0" dirty="0" err="1"/>
              <a:t>transparent</a:t>
            </a:r>
            <a:r>
              <a:rPr lang="it-IT" altLang="it-IT" b="0" dirty="0"/>
              <a:t> and </a:t>
            </a:r>
            <a:r>
              <a:rPr lang="it-IT" altLang="it-IT" b="0" dirty="0" err="1"/>
              <a:t>interpretable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We</a:t>
            </a:r>
            <a:r>
              <a:rPr lang="it-IT" altLang="it-IT" b="0" dirty="0"/>
              <a:t> </a:t>
            </a:r>
            <a:r>
              <a:rPr lang="it-IT" altLang="it-IT" b="0" dirty="0" err="1"/>
              <a:t>correlated</a:t>
            </a:r>
            <a:r>
              <a:rPr lang="it-IT" altLang="it-IT" b="0" dirty="0"/>
              <a:t> </a:t>
            </a:r>
            <a:r>
              <a:rPr lang="it-IT" altLang="it-IT" b="0" dirty="0" err="1"/>
              <a:t>Sapientia</a:t>
            </a:r>
            <a:r>
              <a:rPr lang="it-IT" altLang="it-IT" b="0" dirty="0"/>
              <a:t> </a:t>
            </a:r>
            <a:r>
              <a:rPr lang="it-IT" altLang="it-IT" b="0" dirty="0" err="1"/>
              <a:t>efficiency</a:t>
            </a:r>
            <a:r>
              <a:rPr lang="it-IT" altLang="it-IT" b="0" dirty="0"/>
              <a:t> </a:t>
            </a:r>
            <a:r>
              <a:rPr lang="it-IT" altLang="it-IT" b="0" dirty="0" err="1"/>
              <a:t>metrics</a:t>
            </a:r>
            <a:r>
              <a:rPr lang="it-IT" altLang="it-IT" b="0" dirty="0"/>
              <a:t> with THE SDG rankings and UI </a:t>
            </a:r>
            <a:r>
              <a:rPr lang="it-IT" altLang="it-IT" b="0" dirty="0" err="1"/>
              <a:t>GreenMetric</a:t>
            </a:r>
            <a:r>
              <a:rPr lang="it-IT" altLang="it-IT" b="0" dirty="0"/>
              <a:t>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</a:t>
            </a:r>
            <a:r>
              <a:rPr lang="it-IT" altLang="it-IT" b="0" dirty="0" err="1"/>
              <a:t>measures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Then </a:t>
            </a:r>
            <a:r>
              <a:rPr lang="it-IT" altLang="it-IT" b="0" dirty="0" err="1"/>
              <a:t>we</a:t>
            </a:r>
            <a:r>
              <a:rPr lang="it-IT" altLang="it-IT" b="0" dirty="0"/>
              <a:t> </a:t>
            </a:r>
            <a:r>
              <a:rPr lang="it-IT" altLang="it-IT" b="0" dirty="0" err="1"/>
              <a:t>created</a:t>
            </a:r>
            <a:r>
              <a:rPr lang="it-IT" altLang="it-IT" b="0" dirty="0"/>
              <a:t> an overall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score </a:t>
            </a:r>
            <a:r>
              <a:rPr lang="it-IT" altLang="it-IT" b="0" dirty="0" err="1"/>
              <a:t>using</a:t>
            </a:r>
            <a:r>
              <a:rPr lang="it-IT" altLang="it-IT" b="0" dirty="0"/>
              <a:t> the </a:t>
            </a:r>
            <a:r>
              <a:rPr lang="it-IT" altLang="it-IT" b="0" dirty="0" err="1"/>
              <a:t>mean</a:t>
            </a:r>
            <a:r>
              <a:rPr lang="it-IT" altLang="it-IT" b="0" dirty="0"/>
              <a:t>-to-standard </a:t>
            </a:r>
            <a:r>
              <a:rPr lang="it-IT" altLang="it-IT" b="0" dirty="0" err="1"/>
              <a:t>deviation</a:t>
            </a:r>
            <a:r>
              <a:rPr lang="it-IT" altLang="it-IT" b="0" dirty="0"/>
              <a:t> ratio — </a:t>
            </a:r>
            <a:r>
              <a:rPr lang="it-IT" altLang="it-IT" b="0" dirty="0" err="1"/>
              <a:t>prioritising</a:t>
            </a:r>
            <a:r>
              <a:rPr lang="it-IT" altLang="it-IT" b="0" dirty="0"/>
              <a:t> drivers </a:t>
            </a:r>
            <a:r>
              <a:rPr lang="it-IT" altLang="it-IT" b="0" dirty="0" err="1"/>
              <a:t>that</a:t>
            </a:r>
            <a:r>
              <a:rPr lang="it-IT" altLang="it-IT" b="0" dirty="0"/>
              <a:t> </a:t>
            </a:r>
            <a:r>
              <a:rPr lang="it-IT" altLang="it-IT" b="0" dirty="0" err="1"/>
              <a:t>were</a:t>
            </a:r>
            <a:r>
              <a:rPr lang="it-IT" altLang="it-IT" b="0" dirty="0"/>
              <a:t> </a:t>
            </a:r>
            <a:r>
              <a:rPr lang="it-IT" altLang="it-IT" b="0" dirty="0" err="1"/>
              <a:t>both</a:t>
            </a:r>
            <a:r>
              <a:rPr lang="it-IT" altLang="it-IT" b="0" dirty="0"/>
              <a:t> strong and </a:t>
            </a:r>
            <a:r>
              <a:rPr lang="it-IT" altLang="it-IT" b="0" dirty="0" err="1"/>
              <a:t>consistent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This</a:t>
            </a:r>
            <a:r>
              <a:rPr lang="it-IT" altLang="it-IT" b="0" dirty="0"/>
              <a:t> </a:t>
            </a:r>
            <a:r>
              <a:rPr lang="it-IT" altLang="it-IT" b="0" dirty="0" err="1"/>
              <a:t>allowed</a:t>
            </a:r>
            <a:r>
              <a:rPr lang="it-IT" altLang="it-IT" b="0" dirty="0"/>
              <a:t> </a:t>
            </a:r>
            <a:r>
              <a:rPr lang="it-IT" altLang="it-IT" b="0" dirty="0" err="1"/>
              <a:t>us</a:t>
            </a:r>
            <a:r>
              <a:rPr lang="it-IT" altLang="it-IT" b="0" dirty="0"/>
              <a:t> to </a:t>
            </a:r>
            <a:r>
              <a:rPr lang="it-IT" altLang="it-IT" b="0" dirty="0" err="1"/>
              <a:t>identify</a:t>
            </a:r>
            <a:r>
              <a:rPr lang="it-IT" altLang="it-IT" b="0" dirty="0"/>
              <a:t> </a:t>
            </a:r>
            <a:r>
              <a:rPr lang="it-IT" altLang="it-IT" b="0" dirty="0" err="1"/>
              <a:t>potential</a:t>
            </a:r>
            <a:r>
              <a:rPr lang="it-IT" altLang="it-IT" b="0" dirty="0"/>
              <a:t> positive and negative “cross-drivers” </a:t>
            </a:r>
            <a:r>
              <a:rPr lang="it-IT" altLang="it-IT" b="0" dirty="0" err="1"/>
              <a:t>between</a:t>
            </a:r>
            <a:r>
              <a:rPr lang="it-IT" altLang="it-IT" b="0" dirty="0"/>
              <a:t> </a:t>
            </a:r>
            <a:r>
              <a:rPr lang="it-IT" altLang="it-IT" b="0" dirty="0" err="1"/>
              <a:t>efficiency</a:t>
            </a:r>
            <a:r>
              <a:rPr lang="it-IT" altLang="it-IT" b="0" dirty="0"/>
              <a:t> and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The goal </a:t>
            </a:r>
            <a:r>
              <a:rPr lang="it-IT" altLang="it-IT" b="0" dirty="0" err="1"/>
              <a:t>was</a:t>
            </a:r>
            <a:r>
              <a:rPr lang="it-IT" altLang="it-IT" b="0" dirty="0"/>
              <a:t> </a:t>
            </a:r>
            <a:r>
              <a:rPr lang="it-IT" altLang="it-IT" b="0" dirty="0" err="1"/>
              <a:t>not</a:t>
            </a:r>
            <a:r>
              <a:rPr lang="it-IT" altLang="it-IT" b="0" dirty="0"/>
              <a:t> </a:t>
            </a:r>
            <a:r>
              <a:rPr lang="it-IT" altLang="it-IT" b="0" dirty="0" err="1"/>
              <a:t>causal</a:t>
            </a:r>
            <a:r>
              <a:rPr lang="it-IT" altLang="it-IT" b="0" dirty="0"/>
              <a:t> </a:t>
            </a:r>
            <a:r>
              <a:rPr lang="it-IT" altLang="it-IT" b="0" dirty="0" err="1"/>
              <a:t>proof</a:t>
            </a:r>
            <a:r>
              <a:rPr lang="it-IT" altLang="it-IT" b="0" dirty="0"/>
              <a:t>, </a:t>
            </a:r>
            <a:r>
              <a:rPr lang="it-IT" altLang="it-IT" b="0" dirty="0" err="1"/>
              <a:t>but</a:t>
            </a:r>
            <a:r>
              <a:rPr lang="it-IT" altLang="it-IT" b="0" dirty="0"/>
              <a:t> to generate </a:t>
            </a:r>
            <a:r>
              <a:rPr lang="it-IT" altLang="it-IT" b="0" dirty="0" err="1"/>
              <a:t>interpretable</a:t>
            </a:r>
            <a:r>
              <a:rPr lang="it-IT" altLang="it-IT" b="0" dirty="0"/>
              <a:t> </a:t>
            </a:r>
            <a:r>
              <a:rPr lang="it-IT" altLang="it-IT" b="0" dirty="0" err="1"/>
              <a:t>institutional</a:t>
            </a:r>
            <a:r>
              <a:rPr lang="it-IT" altLang="it-IT" b="0" dirty="0"/>
              <a:t> insights for the </a:t>
            </a:r>
            <a:r>
              <a:rPr lang="it-IT" altLang="it-IT" b="0" dirty="0" err="1"/>
              <a:t>later</a:t>
            </a:r>
            <a:r>
              <a:rPr lang="it-IT" altLang="it-IT" b="0" dirty="0"/>
              <a:t> qualitative </a:t>
            </a:r>
            <a:r>
              <a:rPr lang="it-IT" altLang="it-IT" b="0" dirty="0" err="1"/>
              <a:t>analysis</a:t>
            </a:r>
            <a:r>
              <a:rPr lang="it-IT" altLang="it-IT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810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D534C-664B-F5D8-8D46-01DFA187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0943E078-0510-555F-7797-5BE4B2F6C2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8D459AE-0359-AF9B-FCFF-4ECDAA95B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3FA58F4-06C0-1241-B64A-CAD0EF326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0" i="0" dirty="0" err="1"/>
              <a:t>We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also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developed</a:t>
            </a:r>
            <a:r>
              <a:rPr lang="it-IT" altLang="it-IT" b="0" i="0" dirty="0"/>
              <a:t> an </a:t>
            </a:r>
            <a:r>
              <a:rPr lang="it-IT" altLang="it-IT" b="0" i="0" dirty="0" err="1"/>
              <a:t>automated</a:t>
            </a:r>
            <a:r>
              <a:rPr lang="it-IT" altLang="it-IT" b="0" i="0" dirty="0"/>
              <a:t> web-</a:t>
            </a:r>
            <a:r>
              <a:rPr lang="it-IT" altLang="it-IT" b="0" i="0" dirty="0" err="1"/>
              <a:t>scraping</a:t>
            </a:r>
            <a:r>
              <a:rPr lang="it-IT" altLang="it-IT" b="0" i="0" dirty="0"/>
              <a:t> and NLP pipeline to </a:t>
            </a:r>
            <a:r>
              <a:rPr lang="it-IT" altLang="it-IT" b="0" i="0" dirty="0" err="1"/>
              <a:t>analyse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sustainability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communication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across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universities</a:t>
            </a:r>
            <a:r>
              <a:rPr lang="it-IT" altLang="it-IT" b="0" i="0" dirty="0"/>
              <a:t>.</a:t>
            </a:r>
          </a:p>
          <a:p>
            <a:pPr eaLnBrk="1" hangingPunct="1"/>
            <a:endParaRPr lang="it-IT" altLang="it-IT" b="0" i="0" dirty="0"/>
          </a:p>
          <a:p>
            <a:pPr eaLnBrk="1" hangingPunct="1"/>
            <a:r>
              <a:rPr lang="it-IT" altLang="it-IT" b="0" i="0" dirty="0"/>
              <a:t>The </a:t>
            </a:r>
            <a:r>
              <a:rPr lang="it-IT" altLang="it-IT" b="0" i="0" dirty="0" err="1"/>
              <a:t>scraper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recursively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explored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sustainability-related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webpages</a:t>
            </a:r>
            <a:r>
              <a:rPr lang="it-IT" altLang="it-IT" b="0" i="0" dirty="0"/>
              <a:t> and PDF reports.</a:t>
            </a:r>
          </a:p>
          <a:p>
            <a:pPr eaLnBrk="1" hangingPunct="1"/>
            <a:endParaRPr lang="it-IT" altLang="it-IT" b="0" i="0" dirty="0"/>
          </a:p>
          <a:p>
            <a:pPr eaLnBrk="1" hangingPunct="1"/>
            <a:r>
              <a:rPr lang="it-IT" altLang="it-IT" b="0" i="0" dirty="0" err="1"/>
              <a:t>We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extracted</a:t>
            </a:r>
            <a:r>
              <a:rPr lang="it-IT" altLang="it-IT" b="0" i="0" dirty="0"/>
              <a:t> text from HTML pages and </a:t>
            </a:r>
            <a:r>
              <a:rPr lang="it-IT" altLang="it-IT" b="0" i="0" dirty="0" err="1"/>
              <a:t>PDFs</a:t>
            </a:r>
            <a:r>
              <a:rPr lang="it-IT" altLang="it-IT" b="0" i="0" dirty="0"/>
              <a:t>, </a:t>
            </a:r>
            <a:r>
              <a:rPr lang="it-IT" altLang="it-IT" b="0" i="0" dirty="0" err="1"/>
              <a:t>then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used</a:t>
            </a:r>
            <a:r>
              <a:rPr lang="it-IT" altLang="it-IT" b="0" i="0" dirty="0"/>
              <a:t> keyword </a:t>
            </a:r>
            <a:r>
              <a:rPr lang="it-IT" altLang="it-IT" b="0" i="0" dirty="0" err="1"/>
              <a:t>detection</a:t>
            </a:r>
            <a:r>
              <a:rPr lang="it-IT" altLang="it-IT" b="0" i="0" dirty="0"/>
              <a:t> and word-frequency </a:t>
            </a:r>
            <a:r>
              <a:rPr lang="it-IT" altLang="it-IT" b="0" i="0" dirty="0" err="1"/>
              <a:t>analysis</a:t>
            </a:r>
            <a:r>
              <a:rPr lang="it-IT" altLang="it-IT" b="0" i="0" dirty="0"/>
              <a:t>.</a:t>
            </a:r>
          </a:p>
          <a:p>
            <a:pPr eaLnBrk="1" hangingPunct="1"/>
            <a:endParaRPr lang="it-IT" altLang="it-IT" b="0" i="0" dirty="0"/>
          </a:p>
          <a:p>
            <a:pPr eaLnBrk="1" hangingPunct="1"/>
            <a:r>
              <a:rPr lang="it-IT" altLang="it-IT" b="0" i="0" dirty="0" err="1"/>
              <a:t>This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helped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identify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sustainability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narratives</a:t>
            </a:r>
            <a:r>
              <a:rPr lang="it-IT" altLang="it-IT" b="0" i="0" dirty="0"/>
              <a:t>, SDG </a:t>
            </a:r>
            <a:r>
              <a:rPr lang="it-IT" altLang="it-IT" b="0" i="0" dirty="0" err="1"/>
              <a:t>themes</a:t>
            </a:r>
            <a:r>
              <a:rPr lang="it-IT" altLang="it-IT" b="0" i="0" dirty="0"/>
              <a:t>, and reporting </a:t>
            </a:r>
            <a:r>
              <a:rPr lang="it-IT" altLang="it-IT" b="0" i="0" dirty="0" err="1"/>
              <a:t>intensity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across</a:t>
            </a:r>
            <a:r>
              <a:rPr lang="it-IT" altLang="it-IT" b="0" i="0" dirty="0"/>
              <a:t> institutions.</a:t>
            </a:r>
          </a:p>
          <a:p>
            <a:pPr eaLnBrk="1" hangingPunct="1"/>
            <a:endParaRPr lang="it-IT" altLang="it-IT" b="0" i="0" dirty="0"/>
          </a:p>
          <a:p>
            <a:pPr eaLnBrk="1" hangingPunct="1"/>
            <a:r>
              <a:rPr lang="it-IT" altLang="it-IT" b="0" i="0" dirty="0" err="1"/>
              <a:t>Importantly</a:t>
            </a:r>
            <a:r>
              <a:rPr lang="it-IT" altLang="it-IT" b="0" i="0" dirty="0"/>
              <a:t>, </a:t>
            </a:r>
            <a:r>
              <a:rPr lang="it-IT" altLang="it-IT" b="0" i="0" dirty="0" err="1"/>
              <a:t>this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was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designed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as</a:t>
            </a:r>
            <a:r>
              <a:rPr lang="it-IT" altLang="it-IT" b="0" i="0" dirty="0"/>
              <a:t> an </a:t>
            </a:r>
            <a:r>
              <a:rPr lang="it-IT" altLang="it-IT" b="0" i="0" dirty="0" err="1"/>
              <a:t>interpretive</a:t>
            </a:r>
            <a:r>
              <a:rPr lang="it-IT" altLang="it-IT" b="0" i="0" dirty="0"/>
              <a:t> </a:t>
            </a:r>
            <a:r>
              <a:rPr lang="it-IT" altLang="it-IT" b="0" i="0" dirty="0" err="1"/>
              <a:t>diagnostic</a:t>
            </a:r>
            <a:r>
              <a:rPr lang="it-IT" altLang="it-IT" b="0" i="0" dirty="0"/>
              <a:t> tool — </a:t>
            </a:r>
            <a:r>
              <a:rPr lang="it-IT" altLang="it-IT" b="0" i="0" dirty="0" err="1"/>
              <a:t>not</a:t>
            </a:r>
            <a:r>
              <a:rPr lang="it-IT" altLang="it-IT" b="0" i="0" dirty="0"/>
              <a:t> a new ranking system.</a:t>
            </a:r>
          </a:p>
        </p:txBody>
      </p:sp>
    </p:spTree>
    <p:extLst>
      <p:ext uri="{BB962C8B-B14F-4D97-AF65-F5344CB8AC3E}">
        <p14:creationId xmlns:p14="http://schemas.microsoft.com/office/powerpoint/2010/main" val="698133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D3D1B6-7D1F-199A-12B9-FE3B06B43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/>
              <a:t>Governing by numbers has positives and negatives</a:t>
            </a:r>
          </a:p>
          <a:p>
            <a:endParaRPr lang="en-US"/>
          </a:p>
          <a:p>
            <a:r>
              <a:rPr lang="en-US" b="1"/>
              <a:t>Positive effects:</a:t>
            </a:r>
            <a:endParaRPr lang="en-US"/>
          </a:p>
          <a:p>
            <a:r>
              <a:rPr lang="en-US"/>
              <a:t>Transparency</a:t>
            </a:r>
          </a:p>
          <a:p>
            <a:r>
              <a:rPr lang="en-US"/>
              <a:t>Comparison between universities</a:t>
            </a:r>
          </a:p>
          <a:p>
            <a:r>
              <a:rPr lang="en-US"/>
              <a:t>Motivation to improve</a:t>
            </a:r>
          </a:p>
          <a:p>
            <a:r>
              <a:rPr lang="en-US"/>
              <a:t>Useful for students</a:t>
            </a:r>
          </a:p>
          <a:p>
            <a:endParaRPr lang="en-US"/>
          </a:p>
          <a:p>
            <a:r>
              <a:rPr lang="en-US" b="1"/>
              <a:t>Negative effects:</a:t>
            </a:r>
          </a:p>
          <a:p>
            <a:r>
              <a:rPr lang="en-US"/>
              <a:t>Oversimplification</a:t>
            </a:r>
          </a:p>
          <a:p>
            <a:r>
              <a:rPr lang="en-US"/>
              <a:t>Pressure to chase rankings</a:t>
            </a:r>
          </a:p>
          <a:p>
            <a:r>
              <a:rPr lang="en-US"/>
              <a:t>Less diversity</a:t>
            </a:r>
          </a:p>
          <a:p>
            <a:r>
              <a:rPr lang="en-US"/>
              <a:t>Focus on research not teaching</a:t>
            </a:r>
          </a:p>
          <a:p>
            <a:r>
              <a:rPr lang="en-US"/>
              <a:t>Competition culture</a:t>
            </a:r>
          </a:p>
          <a:p>
            <a:endParaRPr lang="en-US"/>
          </a:p>
          <a:p>
            <a:r>
              <a:rPr lang="en-US" b="1" i="1"/>
              <a:t>Universities may change priorities</a:t>
            </a:r>
          </a:p>
          <a:p>
            <a:endParaRPr lang="en-US" b="1" i="1"/>
          </a:p>
          <a:p>
            <a:r>
              <a:rPr lang="en-US" b="1" i="1"/>
              <a:t>Ranking position becomes goal</a:t>
            </a:r>
          </a:p>
          <a:p>
            <a:endParaRPr lang="en-US" b="1" i="1"/>
          </a:p>
          <a:p>
            <a:r>
              <a:rPr lang="en-US" b="1" i="1"/>
              <a:t>Quality may become secondary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7552-81FD-C555-DCB6-819BF27E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E00F177-D418-6516-DA80-B151768A6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/>
              <a:t>Governing by numbers has positives and negatives</a:t>
            </a:r>
          </a:p>
          <a:p>
            <a:endParaRPr lang="en-US"/>
          </a:p>
          <a:p>
            <a:r>
              <a:rPr lang="en-US" b="1"/>
              <a:t>Positive effects:</a:t>
            </a:r>
            <a:endParaRPr lang="en-US"/>
          </a:p>
          <a:p>
            <a:r>
              <a:rPr lang="en-US"/>
              <a:t>Transparency</a:t>
            </a:r>
          </a:p>
          <a:p>
            <a:r>
              <a:rPr lang="en-US"/>
              <a:t>Comparison between universities</a:t>
            </a:r>
          </a:p>
          <a:p>
            <a:r>
              <a:rPr lang="en-US"/>
              <a:t>Motivation to improve</a:t>
            </a:r>
          </a:p>
          <a:p>
            <a:r>
              <a:rPr lang="en-US"/>
              <a:t>Useful for students</a:t>
            </a:r>
          </a:p>
          <a:p>
            <a:endParaRPr lang="en-US"/>
          </a:p>
          <a:p>
            <a:r>
              <a:rPr lang="en-US" b="1"/>
              <a:t>Negative effects:</a:t>
            </a:r>
          </a:p>
          <a:p>
            <a:r>
              <a:rPr lang="en-US"/>
              <a:t>Oversimplification</a:t>
            </a:r>
          </a:p>
          <a:p>
            <a:r>
              <a:rPr lang="en-US"/>
              <a:t>Pressure to chase rankings</a:t>
            </a:r>
          </a:p>
          <a:p>
            <a:r>
              <a:rPr lang="en-US"/>
              <a:t>Less diversity</a:t>
            </a:r>
          </a:p>
          <a:p>
            <a:r>
              <a:rPr lang="en-US"/>
              <a:t>Focus on research not teaching</a:t>
            </a:r>
          </a:p>
          <a:p>
            <a:r>
              <a:rPr lang="en-US"/>
              <a:t>Competition culture</a:t>
            </a:r>
          </a:p>
          <a:p>
            <a:endParaRPr lang="en-US"/>
          </a:p>
          <a:p>
            <a:r>
              <a:rPr lang="en-US" b="1" i="1"/>
              <a:t>Universities may change priorities</a:t>
            </a:r>
          </a:p>
          <a:p>
            <a:endParaRPr lang="en-US" b="1" i="1"/>
          </a:p>
          <a:p>
            <a:r>
              <a:rPr lang="en-US" b="1" i="1"/>
              <a:t>Ranking position becomes goal</a:t>
            </a:r>
          </a:p>
          <a:p>
            <a:endParaRPr lang="en-US" b="1" i="1"/>
          </a:p>
          <a:p>
            <a:r>
              <a:rPr lang="en-US" b="1" i="1"/>
              <a:t>Quality may become secondary</a:t>
            </a:r>
          </a:p>
        </p:txBody>
      </p:sp>
    </p:spTree>
    <p:extLst>
      <p:ext uri="{BB962C8B-B14F-4D97-AF65-F5344CB8AC3E}">
        <p14:creationId xmlns:p14="http://schemas.microsoft.com/office/powerpoint/2010/main" val="3026555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5456-B1FC-33CB-21E5-CB7EB7C3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1CF35B-F95B-7BCC-F4B0-D667FCCE1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none"/>
              <a:t>The universities are grouped into four categories according to their </a:t>
            </a:r>
            <a:r>
              <a:rPr lang="en-US" b="0" u="none" err="1"/>
              <a:t>standardised</a:t>
            </a:r>
            <a:r>
              <a:rPr lang="en-US" b="0" u="none"/>
              <a:t> Efficiency and Sustainability Scores.</a:t>
            </a:r>
          </a:p>
          <a:p>
            <a:endParaRPr lang="en-US" b="0" u="none"/>
          </a:p>
          <a:p>
            <a:endParaRPr lang="en-US" b="0" u="none"/>
          </a:p>
          <a:p>
            <a:endParaRPr lang="en-US" b="0" u="none"/>
          </a:p>
          <a:p>
            <a:r>
              <a:rPr lang="en-US" b="0" u="none"/>
              <a:t>This </a:t>
            </a:r>
            <a:r>
              <a:rPr lang="en-US" b="0" u="none" err="1"/>
              <a:t>visualisation</a:t>
            </a:r>
            <a:r>
              <a:rPr lang="en-US" b="0" u="none"/>
              <a:t> </a:t>
            </a:r>
            <a:r>
              <a:rPr lang="en-US" b="0" u="none" err="1"/>
              <a:t>summarises</a:t>
            </a:r>
            <a:r>
              <a:rPr lang="en-US" b="0" u="none"/>
              <a:t> the quantitative data to facilitate qualitative comparison. </a:t>
            </a:r>
          </a:p>
          <a:p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2816712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85421-9BD7-4DFE-2944-C3A145AD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D422448-22BE-3237-E4D1-24FE1EDAC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11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51BE8A65-2A90-6183-BC67-4612252A11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B36A157-6A58-2E8E-760F-A710C8173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The paper </a:t>
            </a:r>
            <a:r>
              <a:rPr lang="it-IT" altLang="it-IT" b="1" err="1"/>
              <a:t>analyses</a:t>
            </a:r>
            <a:r>
              <a:rPr lang="it-IT" altLang="it-IT" b="1"/>
              <a:t> the rise of global </a:t>
            </a:r>
            <a:r>
              <a:rPr lang="it-IT" altLang="it-IT" b="1" err="1"/>
              <a:t>university</a:t>
            </a:r>
            <a:r>
              <a:rPr lang="it-IT" altLang="it-IT" b="1"/>
              <a:t> rankings</a:t>
            </a:r>
          </a:p>
          <a:p>
            <a:pPr eaLnBrk="1" hangingPunct="1"/>
            <a:r>
              <a:rPr lang="it-IT" altLang="it-IT" b="0"/>
              <a:t>Focus on </a:t>
            </a:r>
            <a:r>
              <a:rPr lang="it-IT" altLang="it-IT" b="0" err="1"/>
              <a:t>metrics</a:t>
            </a:r>
            <a:r>
              <a:rPr lang="it-IT" altLang="it-IT" b="0"/>
              <a:t>, performance </a:t>
            </a:r>
            <a:r>
              <a:rPr lang="it-IT" altLang="it-IT" b="0" err="1"/>
              <a:t>measurement</a:t>
            </a:r>
            <a:r>
              <a:rPr lang="it-IT" altLang="it-IT" b="0"/>
              <a:t>, and governance</a:t>
            </a:r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part of </a:t>
            </a:r>
            <a:r>
              <a:rPr lang="it-IT" altLang="it-IT" b="1" err="1"/>
              <a:t>wider</a:t>
            </a:r>
            <a:r>
              <a:rPr lang="it-IT" altLang="it-IT" b="1"/>
              <a:t> </a:t>
            </a:r>
            <a:r>
              <a:rPr lang="it-IT" altLang="it-IT" b="1" err="1"/>
              <a:t>changes</a:t>
            </a:r>
            <a:r>
              <a:rPr lang="it-IT" altLang="it-IT" b="1"/>
              <a:t> in </a:t>
            </a:r>
            <a:r>
              <a:rPr lang="it-IT" altLang="it-IT" b="1" err="1"/>
              <a:t>higher</a:t>
            </a:r>
            <a:r>
              <a:rPr lang="it-IT" altLang="it-IT" b="1"/>
              <a:t> </a:t>
            </a:r>
            <a:r>
              <a:rPr lang="it-IT" altLang="it-IT" b="1" err="1"/>
              <a:t>education</a:t>
            </a:r>
            <a:endParaRPr lang="it-IT" altLang="it-IT" b="1"/>
          </a:p>
          <a:p>
            <a:pPr eaLnBrk="1" hangingPunct="1"/>
            <a:r>
              <a:rPr lang="it-IT" altLang="it-IT" b="0" err="1"/>
              <a:t>Linked</a:t>
            </a:r>
            <a:r>
              <a:rPr lang="it-IT" altLang="it-IT" b="0"/>
              <a:t> to </a:t>
            </a:r>
            <a:r>
              <a:rPr lang="it-IT" altLang="it-IT" b="0" err="1"/>
              <a:t>globalisation</a:t>
            </a:r>
            <a:endParaRPr lang="it-IT" altLang="it-IT" b="0"/>
          </a:p>
          <a:p>
            <a:pPr eaLnBrk="1" hangingPunct="1"/>
            <a:r>
              <a:rPr lang="it-IT" altLang="it-IT" b="0" err="1"/>
              <a:t>Commercialisation</a:t>
            </a:r>
            <a:r>
              <a:rPr lang="it-IT" altLang="it-IT" b="0"/>
              <a:t> of knowledge</a:t>
            </a:r>
          </a:p>
          <a:p>
            <a:pPr eaLnBrk="1" hangingPunct="1"/>
            <a:r>
              <a:rPr lang="it-IT" altLang="it-IT" b="0"/>
              <a:t>Audit culture</a:t>
            </a:r>
          </a:p>
          <a:p>
            <a:pPr eaLnBrk="1" hangingPunct="1"/>
            <a:r>
              <a:rPr lang="it-IT" altLang="it-IT" b="0" err="1"/>
              <a:t>Neoliberal</a:t>
            </a:r>
            <a:r>
              <a:rPr lang="it-IT" altLang="it-IT" b="0"/>
              <a:t> policy </a:t>
            </a:r>
            <a:r>
              <a:rPr lang="it-IT" altLang="it-IT" b="0" err="1"/>
              <a:t>ideas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Universities</a:t>
            </a:r>
            <a:r>
              <a:rPr lang="it-IT" altLang="it-IT" b="1"/>
              <a:t> </a:t>
            </a:r>
            <a:r>
              <a:rPr lang="it-IT" altLang="it-IT" b="1" err="1"/>
              <a:t>increasingly</a:t>
            </a:r>
            <a:r>
              <a:rPr lang="it-IT" altLang="it-IT" b="1"/>
              <a:t> </a:t>
            </a:r>
            <a:r>
              <a:rPr lang="it-IT" altLang="it-IT" b="1" err="1"/>
              <a:t>compared</a:t>
            </a:r>
            <a:r>
              <a:rPr lang="it-IT" altLang="it-IT" b="1"/>
              <a:t> </a:t>
            </a:r>
            <a:r>
              <a:rPr lang="it-IT" altLang="it-IT" b="1" err="1"/>
              <a:t>using</a:t>
            </a:r>
            <a:r>
              <a:rPr lang="it-IT" altLang="it-IT" b="1"/>
              <a:t> </a:t>
            </a:r>
            <a:r>
              <a:rPr lang="it-IT" altLang="it-IT" b="1" err="1"/>
              <a:t>numbers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influence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of institutions</a:t>
            </a:r>
          </a:p>
          <a:p>
            <a:pPr eaLnBrk="1" hangingPunct="1"/>
            <a:r>
              <a:rPr lang="it-IT" altLang="it-IT" b="0" err="1"/>
              <a:t>They</a:t>
            </a:r>
            <a:r>
              <a:rPr lang="it-IT" altLang="it-IT" b="0"/>
              <a:t> are </a:t>
            </a:r>
            <a:r>
              <a:rPr lang="it-IT" altLang="it-IT" b="0" err="1"/>
              <a:t>not</a:t>
            </a:r>
            <a:r>
              <a:rPr lang="it-IT" altLang="it-IT" b="0"/>
              <a:t> </a:t>
            </a:r>
            <a:r>
              <a:rPr lang="it-IT" altLang="it-IT" b="0" err="1"/>
              <a:t>neutral</a:t>
            </a:r>
            <a:r>
              <a:rPr lang="it-IT" altLang="it-IT" b="0"/>
              <a:t> tools</a:t>
            </a:r>
          </a:p>
          <a:p>
            <a:pPr eaLnBrk="1" hangingPunct="1"/>
            <a:r>
              <a:rPr lang="it-IT" altLang="it-IT" b="0" err="1"/>
              <a:t>They</a:t>
            </a:r>
            <a:r>
              <a:rPr lang="it-IT" altLang="it-IT" b="0"/>
              <a:t> </a:t>
            </a:r>
            <a:r>
              <a:rPr lang="it-IT" altLang="it-IT" b="0" err="1"/>
              <a:t>shape</a:t>
            </a:r>
            <a:r>
              <a:rPr lang="it-IT" altLang="it-IT" b="0"/>
              <a:t> </a:t>
            </a:r>
            <a:r>
              <a:rPr lang="it-IT" altLang="it-IT" b="0" err="1"/>
              <a:t>decisions</a:t>
            </a:r>
            <a:r>
              <a:rPr lang="it-IT" altLang="it-IT" b="0"/>
              <a:t> and </a:t>
            </a:r>
            <a:r>
              <a:rPr lang="it-IT" altLang="it-IT" b="0" err="1"/>
              <a:t>priorities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connected</a:t>
            </a:r>
            <a:r>
              <a:rPr lang="it-IT" altLang="it-IT" b="1"/>
              <a:t> to global </a:t>
            </a:r>
            <a:r>
              <a:rPr lang="it-IT" altLang="it-IT" b="1" err="1"/>
              <a:t>competition</a:t>
            </a:r>
            <a:endParaRPr lang="it-IT" altLang="it-IT" b="1"/>
          </a:p>
          <a:p>
            <a:pPr eaLnBrk="1" hangingPunct="1"/>
            <a:r>
              <a:rPr lang="it-IT" altLang="it-IT" b="0" err="1"/>
              <a:t>Universities</a:t>
            </a:r>
            <a:r>
              <a:rPr lang="it-IT" altLang="it-IT" b="0"/>
              <a:t> compete </a:t>
            </a:r>
            <a:r>
              <a:rPr lang="it-IT" altLang="it-IT" b="0" err="1"/>
              <a:t>internationally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Main</a:t>
            </a:r>
            <a:r>
              <a:rPr lang="it-IT" altLang="it-IT" b="1"/>
              <a:t> idea:</a:t>
            </a:r>
          </a:p>
          <a:p>
            <a:pPr eaLnBrk="1" hangingPunct="1"/>
            <a:r>
              <a:rPr lang="it-IT" altLang="it-IT" b="0"/>
              <a:t>Rankings are part of a </a:t>
            </a:r>
            <a:r>
              <a:rPr lang="it-IT" altLang="it-IT" b="0" err="1"/>
              <a:t>larger</a:t>
            </a:r>
            <a:r>
              <a:rPr lang="it-IT" altLang="it-IT" b="0"/>
              <a:t> </a:t>
            </a:r>
            <a:r>
              <a:rPr lang="it-IT" altLang="it-IT" b="0" err="1"/>
              <a:t>transformation</a:t>
            </a:r>
            <a:r>
              <a:rPr lang="it-IT" altLang="it-IT" b="0"/>
              <a:t> of </a:t>
            </a:r>
            <a:r>
              <a:rPr lang="it-IT" altLang="it-IT" b="0" err="1"/>
              <a:t>higher</a:t>
            </a:r>
            <a:r>
              <a:rPr lang="it-IT" altLang="it-IT" b="0"/>
              <a:t> </a:t>
            </a:r>
            <a:r>
              <a:rPr lang="it-IT" altLang="it-IT" b="0" err="1"/>
              <a:t>education</a:t>
            </a:r>
            <a:endParaRPr lang="it-IT" altLang="it-IT" b="0"/>
          </a:p>
        </p:txBody>
      </p:sp>
    </p:spTree>
    <p:extLst>
      <p:ext uri="{BB962C8B-B14F-4D97-AF65-F5344CB8AC3E}">
        <p14:creationId xmlns:p14="http://schemas.microsoft.com/office/powerpoint/2010/main" val="3206600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HELS quadrants emphasised research, productivity, and institutional performance language </a:t>
            </a:r>
          </a:p>
          <a:p>
            <a:r>
              <a:rPr lang="en-GB"/>
              <a:t>LEHS quadrants showed stronger environmental, accessibility, and social sustainability terminology </a:t>
            </a:r>
          </a:p>
          <a:p>
            <a:r>
              <a:rPr lang="en-GB"/>
              <a:t>HEHS displayed a more balanced mix of innovation and sustainability discourse </a:t>
            </a:r>
          </a:p>
          <a:p>
            <a:r>
              <a:rPr lang="en-GB"/>
              <a:t>LELS showed weaker and more fragmented sustainability narratives </a:t>
            </a:r>
          </a:p>
          <a:p>
            <a:r>
              <a:rPr lang="en-GB" b="1"/>
              <a:t>Takeaway:</a:t>
            </a:r>
            <a:br>
              <a:rPr lang="en-GB"/>
            </a:br>
            <a:r>
              <a:rPr lang="en-GB"/>
              <a:t>Word frequency analysis provides interpretive evidence of institutional priorities — not direct proof of sustainability performance.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F643-BCEA-A448-889A-FB135CFCF57C}" type="slidenum">
              <a:rPr lang="it-IT" altLang="it-IT" smtClean="0"/>
              <a:pPr/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23035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F310-FF2A-D45D-ED46-9B090D54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517166B7-3D36-C2EB-D6E9-2947A72C0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15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10F7C81-9CE1-B19D-ED04-2E6FED244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D06F878-F9D2-BF06-FA25-DAADE26C6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0" dirty="0" err="1"/>
              <a:t>Methodologically</a:t>
            </a:r>
            <a:r>
              <a:rPr lang="it-IT" altLang="it-IT" b="0" dirty="0"/>
              <a:t>, the framework </a:t>
            </a:r>
            <a:r>
              <a:rPr lang="it-IT" altLang="it-IT" b="0" dirty="0" err="1"/>
              <a:t>bridges</a:t>
            </a:r>
            <a:r>
              <a:rPr lang="it-IT" altLang="it-IT" b="0" dirty="0"/>
              <a:t> quantitative rankings with qualitative </a:t>
            </a:r>
            <a:r>
              <a:rPr lang="it-IT" altLang="it-IT" b="0" dirty="0" err="1"/>
              <a:t>institutional</a:t>
            </a:r>
            <a:r>
              <a:rPr lang="it-IT" altLang="it-IT" b="0" dirty="0"/>
              <a:t> </a:t>
            </a:r>
            <a:r>
              <a:rPr lang="it-IT" altLang="it-IT" b="0" dirty="0" err="1"/>
              <a:t>interpretation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Diagnostically</a:t>
            </a:r>
            <a:r>
              <a:rPr lang="it-IT" altLang="it-IT" b="0" dirty="0"/>
              <a:t>, the </a:t>
            </a:r>
            <a:r>
              <a:rPr lang="it-IT" altLang="it-IT" b="0" dirty="0" err="1"/>
              <a:t>quadrant</a:t>
            </a:r>
            <a:r>
              <a:rPr lang="it-IT" altLang="it-IT" b="0" dirty="0"/>
              <a:t> model helps </a:t>
            </a:r>
            <a:r>
              <a:rPr lang="it-IT" altLang="it-IT" b="0" dirty="0" err="1"/>
              <a:t>identify</a:t>
            </a:r>
            <a:r>
              <a:rPr lang="it-IT" altLang="it-IT" b="0" dirty="0"/>
              <a:t> </a:t>
            </a:r>
            <a:r>
              <a:rPr lang="it-IT" altLang="it-IT" b="0" dirty="0" err="1"/>
              <a:t>different</a:t>
            </a:r>
            <a:r>
              <a:rPr lang="it-IT" altLang="it-IT" b="0" dirty="0"/>
              <a:t> </a:t>
            </a:r>
            <a:r>
              <a:rPr lang="it-IT" altLang="it-IT" b="0" dirty="0" err="1"/>
              <a:t>institutional</a:t>
            </a:r>
            <a:r>
              <a:rPr lang="it-IT" altLang="it-IT" b="0" dirty="0"/>
              <a:t>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</a:t>
            </a:r>
            <a:r>
              <a:rPr lang="it-IT" altLang="it-IT" b="0" dirty="0" err="1"/>
              <a:t>behaviours</a:t>
            </a:r>
            <a:r>
              <a:rPr lang="it-IT" altLang="it-IT" b="0" dirty="0"/>
              <a:t> and </a:t>
            </a:r>
            <a:r>
              <a:rPr lang="it-IT" altLang="it-IT" b="0" dirty="0" err="1"/>
              <a:t>priorities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Technically</a:t>
            </a:r>
            <a:r>
              <a:rPr lang="it-IT" altLang="it-IT" b="0" dirty="0"/>
              <a:t>, </a:t>
            </a:r>
            <a:r>
              <a:rPr lang="it-IT" altLang="it-IT" b="0" dirty="0" err="1"/>
              <a:t>we</a:t>
            </a:r>
            <a:r>
              <a:rPr lang="it-IT" altLang="it-IT" b="0" dirty="0"/>
              <a:t> </a:t>
            </a:r>
            <a:r>
              <a:rPr lang="it-IT" altLang="it-IT" b="0" dirty="0" err="1"/>
              <a:t>integrated</a:t>
            </a:r>
            <a:r>
              <a:rPr lang="it-IT" altLang="it-IT" b="0" dirty="0"/>
              <a:t> </a:t>
            </a:r>
            <a:r>
              <a:rPr lang="it-IT" altLang="it-IT" b="0" dirty="0" err="1"/>
              <a:t>ontology</a:t>
            </a:r>
            <a:r>
              <a:rPr lang="it-IT" altLang="it-IT" b="0" dirty="0"/>
              <a:t> </a:t>
            </a:r>
            <a:r>
              <a:rPr lang="it-IT" altLang="it-IT" b="0" dirty="0" err="1"/>
              <a:t>modelling</a:t>
            </a:r>
            <a:r>
              <a:rPr lang="it-IT" altLang="it-IT" b="0" dirty="0"/>
              <a:t>, NLP, and </a:t>
            </a:r>
            <a:r>
              <a:rPr lang="it-IT" altLang="it-IT" b="0" dirty="0" err="1"/>
              <a:t>automated</a:t>
            </a:r>
            <a:r>
              <a:rPr lang="it-IT" altLang="it-IT" b="0" dirty="0"/>
              <a:t> web </a:t>
            </a:r>
            <a:r>
              <a:rPr lang="it-IT" altLang="it-IT" b="0" dirty="0" err="1"/>
              <a:t>scraping</a:t>
            </a:r>
            <a:r>
              <a:rPr lang="it-IT" altLang="it-IT" b="0" dirty="0"/>
              <a:t> </a:t>
            </a:r>
            <a:r>
              <a:rPr lang="it-IT" altLang="it-IT" b="0" dirty="0" err="1"/>
              <a:t>into</a:t>
            </a:r>
            <a:r>
              <a:rPr lang="it-IT" altLang="it-IT" b="0" dirty="0"/>
              <a:t> one mixed-</a:t>
            </a:r>
            <a:r>
              <a:rPr lang="it-IT" altLang="it-IT" b="0" dirty="0" err="1"/>
              <a:t>method</a:t>
            </a:r>
            <a:r>
              <a:rPr lang="it-IT" altLang="it-IT" b="0" dirty="0"/>
              <a:t> framework.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The framework </a:t>
            </a:r>
            <a:r>
              <a:rPr lang="it-IT" altLang="it-IT" b="0" dirty="0" err="1"/>
              <a:t>is</a:t>
            </a:r>
            <a:r>
              <a:rPr lang="it-IT" altLang="it-IT" b="0" dirty="0"/>
              <a:t> </a:t>
            </a:r>
            <a:r>
              <a:rPr lang="it-IT" altLang="it-IT" b="0" dirty="0" err="1"/>
              <a:t>also</a:t>
            </a:r>
            <a:r>
              <a:rPr lang="it-IT" altLang="it-IT" b="0" dirty="0"/>
              <a:t> </a:t>
            </a:r>
            <a:r>
              <a:rPr lang="it-IT" altLang="it-IT" b="0" dirty="0" err="1"/>
              <a:t>scalable</a:t>
            </a:r>
            <a:r>
              <a:rPr lang="it-IT" altLang="it-IT" b="0" dirty="0"/>
              <a:t> and </a:t>
            </a:r>
            <a:r>
              <a:rPr lang="it-IT" altLang="it-IT" b="0" dirty="0" err="1"/>
              <a:t>could</a:t>
            </a:r>
            <a:r>
              <a:rPr lang="it-IT" altLang="it-IT" b="0" dirty="0"/>
              <a:t> be </a:t>
            </a:r>
            <a:r>
              <a:rPr lang="it-IT" altLang="it-IT" b="0" dirty="0" err="1"/>
              <a:t>extended</a:t>
            </a:r>
            <a:r>
              <a:rPr lang="it-IT" altLang="it-IT" b="0" dirty="0"/>
              <a:t> to </a:t>
            </a:r>
            <a:r>
              <a:rPr lang="it-IT" altLang="it-IT" b="0" dirty="0" err="1"/>
              <a:t>larger</a:t>
            </a:r>
            <a:r>
              <a:rPr lang="it-IT" altLang="it-IT" b="0" dirty="0"/>
              <a:t> or multi-country datasets in future </a:t>
            </a:r>
            <a:r>
              <a:rPr lang="it-IT" altLang="it-IT" b="0" dirty="0" err="1"/>
              <a:t>research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Overall, the </a:t>
            </a:r>
            <a:r>
              <a:rPr lang="it-IT" altLang="it-IT" b="0" dirty="0" err="1"/>
              <a:t>contribution</a:t>
            </a:r>
            <a:r>
              <a:rPr lang="it-IT" altLang="it-IT" b="0" dirty="0"/>
              <a:t> </a:t>
            </a:r>
            <a:r>
              <a:rPr lang="it-IT" altLang="it-IT" b="0" dirty="0" err="1"/>
              <a:t>is</a:t>
            </a:r>
            <a:r>
              <a:rPr lang="it-IT" altLang="it-IT" b="0" dirty="0"/>
              <a:t> making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</a:t>
            </a:r>
            <a:r>
              <a:rPr lang="it-IT" altLang="it-IT" b="0" dirty="0" err="1"/>
              <a:t>analysis</a:t>
            </a:r>
            <a:r>
              <a:rPr lang="it-IT" altLang="it-IT" b="0" dirty="0"/>
              <a:t> more </a:t>
            </a:r>
            <a:r>
              <a:rPr lang="it-IT" altLang="it-IT" b="0" dirty="0" err="1"/>
              <a:t>interpretable</a:t>
            </a:r>
            <a:r>
              <a:rPr lang="it-IT" altLang="it-IT" b="0" dirty="0"/>
              <a:t> and </a:t>
            </a:r>
            <a:r>
              <a:rPr lang="it-IT" altLang="it-IT" b="0" dirty="0" err="1"/>
              <a:t>context-aware</a:t>
            </a:r>
            <a:r>
              <a:rPr lang="it-IT" altLang="it-IT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051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CE5FBF4-C295-DBF4-C2E2-5025C07B47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16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86B8BC5-AE48-929A-BCC1-6D9D57281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0D5764D-1AEC-504D-85BA-60B07D794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0" dirty="0"/>
              <a:t>The study </a:t>
            </a:r>
            <a:r>
              <a:rPr lang="it-IT" altLang="it-IT" b="0" dirty="0" err="1"/>
              <a:t>is</a:t>
            </a:r>
            <a:r>
              <a:rPr lang="it-IT" altLang="it-IT" b="0" dirty="0"/>
              <a:t> </a:t>
            </a:r>
            <a:r>
              <a:rPr lang="it-IT" altLang="it-IT" b="0" dirty="0" err="1"/>
              <a:t>exploratory</a:t>
            </a:r>
            <a:r>
              <a:rPr lang="it-IT" altLang="it-IT" b="0" dirty="0"/>
              <a:t> and limited by a </a:t>
            </a:r>
            <a:r>
              <a:rPr lang="it-IT" altLang="it-IT" b="0" dirty="0" err="1"/>
              <a:t>relatively</a:t>
            </a:r>
            <a:r>
              <a:rPr lang="it-IT" altLang="it-IT" b="0" dirty="0"/>
              <a:t> small sample of 29 </a:t>
            </a:r>
            <a:r>
              <a:rPr lang="it-IT" altLang="it-IT" b="0" dirty="0" err="1"/>
              <a:t>universities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Correlations</a:t>
            </a:r>
            <a:r>
              <a:rPr lang="it-IT" altLang="it-IT" b="0" dirty="0"/>
              <a:t> </a:t>
            </a:r>
            <a:r>
              <a:rPr lang="it-IT" altLang="it-IT" b="0" dirty="0" err="1"/>
              <a:t>identify</a:t>
            </a:r>
            <a:r>
              <a:rPr lang="it-IT" altLang="it-IT" b="0" dirty="0"/>
              <a:t> </a:t>
            </a:r>
            <a:r>
              <a:rPr lang="it-IT" altLang="it-IT" b="0" dirty="0" err="1"/>
              <a:t>relationships</a:t>
            </a:r>
            <a:r>
              <a:rPr lang="it-IT" altLang="it-IT" b="0" dirty="0"/>
              <a:t>, </a:t>
            </a:r>
            <a:r>
              <a:rPr lang="it-IT" altLang="it-IT" b="0" dirty="0" err="1"/>
              <a:t>but</a:t>
            </a:r>
            <a:r>
              <a:rPr lang="it-IT" altLang="it-IT" b="0" dirty="0"/>
              <a:t> </a:t>
            </a:r>
            <a:r>
              <a:rPr lang="it-IT" altLang="it-IT" b="0" dirty="0" err="1"/>
              <a:t>they</a:t>
            </a:r>
            <a:r>
              <a:rPr lang="it-IT" altLang="it-IT" b="0" dirty="0"/>
              <a:t> do </a:t>
            </a:r>
            <a:r>
              <a:rPr lang="it-IT" altLang="it-IT" b="0" dirty="0" err="1"/>
              <a:t>not</a:t>
            </a:r>
            <a:r>
              <a:rPr lang="it-IT" altLang="it-IT" b="0" dirty="0"/>
              <a:t> prove </a:t>
            </a:r>
            <a:r>
              <a:rPr lang="it-IT" altLang="it-IT" b="0" dirty="0" err="1"/>
              <a:t>causation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Web </a:t>
            </a:r>
            <a:r>
              <a:rPr lang="it-IT" altLang="it-IT" b="0" dirty="0" err="1"/>
              <a:t>scraping</a:t>
            </a:r>
            <a:r>
              <a:rPr lang="it-IT" altLang="it-IT" b="0" dirty="0"/>
              <a:t> </a:t>
            </a:r>
            <a:r>
              <a:rPr lang="it-IT" altLang="it-IT" b="0" dirty="0" err="1"/>
              <a:t>was</a:t>
            </a:r>
            <a:r>
              <a:rPr lang="it-IT" altLang="it-IT" b="0" dirty="0"/>
              <a:t> </a:t>
            </a:r>
            <a:r>
              <a:rPr lang="it-IT" altLang="it-IT" b="0" dirty="0" err="1"/>
              <a:t>affected</a:t>
            </a:r>
            <a:r>
              <a:rPr lang="it-IT" altLang="it-IT" b="0" dirty="0"/>
              <a:t> by </a:t>
            </a:r>
            <a:r>
              <a:rPr lang="it-IT" altLang="it-IT" b="0" dirty="0" err="1"/>
              <a:t>inconsistent</a:t>
            </a:r>
            <a:r>
              <a:rPr lang="it-IT" altLang="it-IT" b="0" dirty="0"/>
              <a:t> </a:t>
            </a:r>
            <a:r>
              <a:rPr lang="it-IT" altLang="it-IT" b="0" dirty="0" err="1"/>
              <a:t>university</a:t>
            </a:r>
            <a:r>
              <a:rPr lang="it-IT" altLang="it-IT" b="0" dirty="0"/>
              <a:t> website </a:t>
            </a:r>
            <a:r>
              <a:rPr lang="it-IT" altLang="it-IT" b="0" dirty="0" err="1"/>
              <a:t>structures</a:t>
            </a:r>
            <a:r>
              <a:rPr lang="it-IT" altLang="it-IT" b="0" dirty="0"/>
              <a:t> and reporting </a:t>
            </a:r>
            <a:r>
              <a:rPr lang="it-IT" altLang="it-IT" b="0" dirty="0" err="1"/>
              <a:t>quality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Sustainability</a:t>
            </a:r>
            <a:r>
              <a:rPr lang="it-IT" altLang="it-IT" b="0" dirty="0"/>
              <a:t> rankings </a:t>
            </a:r>
            <a:r>
              <a:rPr lang="it-IT" altLang="it-IT" b="0" dirty="0" err="1"/>
              <a:t>themselves</a:t>
            </a:r>
            <a:r>
              <a:rPr lang="it-IT" altLang="it-IT" b="0" dirty="0"/>
              <a:t> </a:t>
            </a:r>
            <a:r>
              <a:rPr lang="it-IT" altLang="it-IT" b="0" dirty="0" err="1"/>
              <a:t>also</a:t>
            </a:r>
            <a:r>
              <a:rPr lang="it-IT" altLang="it-IT" b="0" dirty="0"/>
              <a:t> </a:t>
            </a:r>
            <a:r>
              <a:rPr lang="it-IT" altLang="it-IT" b="0" dirty="0" err="1"/>
              <a:t>contain</a:t>
            </a:r>
            <a:r>
              <a:rPr lang="it-IT" altLang="it-IT" b="0" dirty="0"/>
              <a:t> </a:t>
            </a:r>
            <a:r>
              <a:rPr lang="it-IT" altLang="it-IT" b="0" dirty="0" err="1"/>
              <a:t>methodological</a:t>
            </a:r>
            <a:r>
              <a:rPr lang="it-IT" altLang="it-IT" b="0" dirty="0"/>
              <a:t> </a:t>
            </a:r>
            <a:r>
              <a:rPr lang="it-IT" altLang="it-IT" b="0" dirty="0" err="1"/>
              <a:t>biases</a:t>
            </a:r>
            <a:r>
              <a:rPr lang="it-IT" altLang="it-IT" b="0" dirty="0"/>
              <a:t> and </a:t>
            </a:r>
            <a:r>
              <a:rPr lang="it-IT" altLang="it-IT" b="0" dirty="0" err="1"/>
              <a:t>differences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Future work </a:t>
            </a:r>
            <a:r>
              <a:rPr lang="it-IT" altLang="it-IT" b="0" dirty="0" err="1"/>
              <a:t>could</a:t>
            </a:r>
            <a:r>
              <a:rPr lang="it-IT" altLang="it-IT" b="0" dirty="0"/>
              <a:t> </a:t>
            </a:r>
            <a:r>
              <a:rPr lang="it-IT" altLang="it-IT" b="0" dirty="0" err="1"/>
              <a:t>expand</a:t>
            </a:r>
            <a:r>
              <a:rPr lang="it-IT" altLang="it-IT" b="0" dirty="0"/>
              <a:t> the dataset </a:t>
            </a:r>
            <a:r>
              <a:rPr lang="it-IT" altLang="it-IT" b="0" dirty="0" err="1"/>
              <a:t>internationally</a:t>
            </a:r>
            <a:r>
              <a:rPr lang="it-IT" altLang="it-IT" b="0" dirty="0"/>
              <a:t>, </a:t>
            </a:r>
            <a:r>
              <a:rPr lang="it-IT" altLang="it-IT" b="0" dirty="0" err="1"/>
              <a:t>apply</a:t>
            </a:r>
            <a:r>
              <a:rPr lang="it-IT" altLang="it-IT" b="0" dirty="0"/>
              <a:t> transformer-</a:t>
            </a:r>
            <a:r>
              <a:rPr lang="it-IT" altLang="it-IT" b="0" dirty="0" err="1"/>
              <a:t>based</a:t>
            </a:r>
            <a:r>
              <a:rPr lang="it-IT" altLang="it-IT" b="0" dirty="0"/>
              <a:t> NLP models, and introduce </a:t>
            </a:r>
            <a:r>
              <a:rPr lang="it-IT" altLang="it-IT" b="0" dirty="0" err="1"/>
              <a:t>longitudinal</a:t>
            </a:r>
            <a:r>
              <a:rPr lang="it-IT" altLang="it-IT" b="0" dirty="0"/>
              <a:t> or </a:t>
            </a:r>
            <a:r>
              <a:rPr lang="it-IT" altLang="it-IT" b="0" dirty="0" err="1"/>
              <a:t>causal</a:t>
            </a:r>
            <a:r>
              <a:rPr lang="it-IT" altLang="it-IT" b="0" dirty="0"/>
              <a:t> </a:t>
            </a:r>
            <a:r>
              <a:rPr lang="it-IT" altLang="it-IT" b="0" dirty="0" err="1"/>
              <a:t>analysis</a:t>
            </a:r>
            <a:r>
              <a:rPr lang="it-IT" altLang="it-IT" b="0" dirty="0"/>
              <a:t> techniques.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3892-275D-BA48-236A-29DC60FD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5382D18-92EF-9CC5-1759-950A8D94D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17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2F87CF4-51E5-C23D-176C-FD1A0408B5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2C4E16C-244A-EB33-0E9E-01EE5789A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0" dirty="0"/>
              <a:t>One of the </a:t>
            </a:r>
            <a:r>
              <a:rPr lang="it-IT" altLang="it-IT" b="0" dirty="0" err="1"/>
              <a:t>main</a:t>
            </a:r>
            <a:r>
              <a:rPr lang="it-IT" altLang="it-IT" b="0" dirty="0"/>
              <a:t> </a:t>
            </a:r>
            <a:r>
              <a:rPr lang="it-IT" altLang="it-IT" b="0" dirty="0" err="1"/>
              <a:t>conclusions</a:t>
            </a:r>
            <a:r>
              <a:rPr lang="it-IT" altLang="it-IT" b="0" dirty="0"/>
              <a:t> </a:t>
            </a:r>
            <a:r>
              <a:rPr lang="it-IT" altLang="it-IT" b="0" dirty="0" err="1"/>
              <a:t>is</a:t>
            </a:r>
            <a:r>
              <a:rPr lang="it-IT" altLang="it-IT" b="0" dirty="0"/>
              <a:t> </a:t>
            </a:r>
            <a:r>
              <a:rPr lang="it-IT" altLang="it-IT" b="0" dirty="0" err="1"/>
              <a:t>that</a:t>
            </a:r>
            <a:r>
              <a:rPr lang="it-IT" altLang="it-IT" b="0" dirty="0"/>
              <a:t> </a:t>
            </a:r>
            <a:r>
              <a:rPr lang="it-IT" altLang="it-IT" b="0" dirty="0" err="1"/>
              <a:t>efficiency</a:t>
            </a:r>
            <a:r>
              <a:rPr lang="it-IT" altLang="it-IT" b="0" dirty="0"/>
              <a:t> </a:t>
            </a:r>
            <a:r>
              <a:rPr lang="it-IT" altLang="it-IT" b="0" dirty="0" err="1"/>
              <a:t>does</a:t>
            </a:r>
            <a:r>
              <a:rPr lang="it-IT" altLang="it-IT" b="0" dirty="0"/>
              <a:t> </a:t>
            </a:r>
            <a:r>
              <a:rPr lang="it-IT" altLang="it-IT" b="0" dirty="0" err="1"/>
              <a:t>not</a:t>
            </a:r>
            <a:r>
              <a:rPr lang="it-IT" altLang="it-IT" b="0" dirty="0"/>
              <a:t> </a:t>
            </a:r>
            <a:r>
              <a:rPr lang="it-IT" altLang="it-IT" b="0" dirty="0" err="1"/>
              <a:t>automatically</a:t>
            </a:r>
            <a:r>
              <a:rPr lang="it-IT" altLang="it-IT" b="0" dirty="0"/>
              <a:t> </a:t>
            </a:r>
            <a:r>
              <a:rPr lang="it-IT" altLang="it-IT" b="0" dirty="0" err="1"/>
              <a:t>equal</a:t>
            </a:r>
            <a:r>
              <a:rPr lang="it-IT" altLang="it-IT" b="0" dirty="0"/>
              <a:t>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Sustainability</a:t>
            </a:r>
            <a:r>
              <a:rPr lang="it-IT" altLang="it-IT" b="0" dirty="0"/>
              <a:t> performance </a:t>
            </a:r>
            <a:r>
              <a:rPr lang="it-IT" altLang="it-IT" b="0" dirty="0" err="1"/>
              <a:t>also</a:t>
            </a:r>
            <a:r>
              <a:rPr lang="it-IT" altLang="it-IT" b="0" dirty="0"/>
              <a:t> </a:t>
            </a:r>
            <a:r>
              <a:rPr lang="it-IT" altLang="it-IT" b="0" dirty="0" err="1"/>
              <a:t>depends</a:t>
            </a:r>
            <a:r>
              <a:rPr lang="it-IT" altLang="it-IT" b="0" dirty="0"/>
              <a:t> on governance, </a:t>
            </a:r>
            <a:r>
              <a:rPr lang="it-IT" altLang="it-IT" b="0" dirty="0" err="1"/>
              <a:t>communication</a:t>
            </a:r>
            <a:r>
              <a:rPr lang="it-IT" altLang="it-IT" b="0" dirty="0"/>
              <a:t>, and </a:t>
            </a:r>
            <a:r>
              <a:rPr lang="it-IT" altLang="it-IT" b="0" dirty="0" err="1"/>
              <a:t>institutional</a:t>
            </a:r>
            <a:r>
              <a:rPr lang="it-IT" altLang="it-IT" b="0" dirty="0"/>
              <a:t> </a:t>
            </a:r>
            <a:r>
              <a:rPr lang="it-IT" altLang="it-IT" b="0" dirty="0" err="1"/>
              <a:t>priorities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The </a:t>
            </a:r>
            <a:r>
              <a:rPr lang="it-IT" altLang="it-IT" b="0" dirty="0" err="1"/>
              <a:t>quadrant</a:t>
            </a:r>
            <a:r>
              <a:rPr lang="it-IT" altLang="it-IT" b="0" dirty="0"/>
              <a:t> framework helps </a:t>
            </a:r>
            <a:r>
              <a:rPr lang="it-IT" altLang="it-IT" b="0" dirty="0" err="1"/>
              <a:t>translate</a:t>
            </a:r>
            <a:r>
              <a:rPr lang="it-IT" altLang="it-IT" b="0" dirty="0"/>
              <a:t> quantitative </a:t>
            </a:r>
            <a:r>
              <a:rPr lang="it-IT" altLang="it-IT" b="0" dirty="0" err="1"/>
              <a:t>metrics</a:t>
            </a:r>
            <a:r>
              <a:rPr lang="it-IT" altLang="it-IT" b="0" dirty="0"/>
              <a:t> </a:t>
            </a:r>
            <a:r>
              <a:rPr lang="it-IT" altLang="it-IT" b="0" dirty="0" err="1"/>
              <a:t>into</a:t>
            </a:r>
            <a:r>
              <a:rPr lang="it-IT" altLang="it-IT" b="0" dirty="0"/>
              <a:t> qualitative </a:t>
            </a:r>
            <a:r>
              <a:rPr lang="it-IT" altLang="it-IT" b="0" dirty="0" err="1"/>
              <a:t>institutional</a:t>
            </a:r>
            <a:r>
              <a:rPr lang="it-IT" altLang="it-IT" b="0" dirty="0"/>
              <a:t> </a:t>
            </a:r>
            <a:r>
              <a:rPr lang="it-IT" altLang="it-IT" b="0" dirty="0" err="1"/>
              <a:t>interpretation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 err="1"/>
              <a:t>We</a:t>
            </a:r>
            <a:r>
              <a:rPr lang="it-IT" altLang="it-IT" b="0" dirty="0"/>
              <a:t> </a:t>
            </a:r>
            <a:r>
              <a:rPr lang="it-IT" altLang="it-IT" b="0" dirty="0" err="1"/>
              <a:t>found</a:t>
            </a:r>
            <a:r>
              <a:rPr lang="it-IT" altLang="it-IT" b="0" dirty="0"/>
              <a:t> </a:t>
            </a:r>
            <a:r>
              <a:rPr lang="it-IT" altLang="it-IT" b="0" dirty="0" err="1"/>
              <a:t>that</a:t>
            </a:r>
            <a:r>
              <a:rPr lang="it-IT" altLang="it-IT" b="0" dirty="0"/>
              <a:t> some </a:t>
            </a:r>
            <a:r>
              <a:rPr lang="it-IT" altLang="it-IT" b="0" dirty="0" err="1"/>
              <a:t>lower-efficiency</a:t>
            </a:r>
            <a:r>
              <a:rPr lang="it-IT" altLang="it-IT" b="0" dirty="0"/>
              <a:t> </a:t>
            </a:r>
            <a:r>
              <a:rPr lang="it-IT" altLang="it-IT" b="0" dirty="0" err="1"/>
              <a:t>universities</a:t>
            </a:r>
            <a:r>
              <a:rPr lang="it-IT" altLang="it-IT" b="0" dirty="0"/>
              <a:t> </a:t>
            </a:r>
            <a:r>
              <a:rPr lang="it-IT" altLang="it-IT" b="0" dirty="0" err="1"/>
              <a:t>still</a:t>
            </a:r>
            <a:r>
              <a:rPr lang="it-IT" altLang="it-IT" b="0" dirty="0"/>
              <a:t> </a:t>
            </a:r>
            <a:r>
              <a:rPr lang="it-IT" altLang="it-IT" b="0" dirty="0" err="1"/>
              <a:t>demonstrated</a:t>
            </a:r>
            <a:r>
              <a:rPr lang="it-IT" altLang="it-IT" b="0" dirty="0"/>
              <a:t> strong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</a:t>
            </a:r>
            <a:r>
              <a:rPr lang="it-IT" altLang="it-IT" b="0" dirty="0" err="1"/>
              <a:t>orientation</a:t>
            </a:r>
            <a:r>
              <a:rPr lang="it-IT" altLang="it-IT" b="0" dirty="0"/>
              <a:t> and </a:t>
            </a:r>
            <a:r>
              <a:rPr lang="it-IT" altLang="it-IT" b="0" dirty="0" err="1"/>
              <a:t>communication</a:t>
            </a:r>
            <a:r>
              <a:rPr lang="it-IT" altLang="it-IT" b="0" dirty="0"/>
              <a:t>.</a:t>
            </a:r>
          </a:p>
          <a:p>
            <a:pPr eaLnBrk="1" hangingPunct="1"/>
            <a:endParaRPr lang="it-IT" altLang="it-IT" b="0" dirty="0"/>
          </a:p>
          <a:p>
            <a:pPr eaLnBrk="1" hangingPunct="1"/>
            <a:r>
              <a:rPr lang="it-IT" altLang="it-IT" b="0" dirty="0"/>
              <a:t>Overall, the framework shows </a:t>
            </a:r>
            <a:r>
              <a:rPr lang="it-IT" altLang="it-IT" b="0" dirty="0" err="1"/>
              <a:t>how</a:t>
            </a:r>
            <a:r>
              <a:rPr lang="it-IT" altLang="it-IT" b="0" dirty="0"/>
              <a:t> quantitative and qualitative </a:t>
            </a:r>
            <a:r>
              <a:rPr lang="it-IT" altLang="it-IT" b="0" dirty="0" err="1"/>
              <a:t>approaches</a:t>
            </a:r>
            <a:r>
              <a:rPr lang="it-IT" altLang="it-IT" b="0" dirty="0"/>
              <a:t> can be </a:t>
            </a:r>
            <a:r>
              <a:rPr lang="it-IT" altLang="it-IT" b="0" dirty="0" err="1"/>
              <a:t>combined</a:t>
            </a:r>
            <a:r>
              <a:rPr lang="it-IT" altLang="it-IT" b="0" dirty="0"/>
              <a:t> to </a:t>
            </a:r>
            <a:r>
              <a:rPr lang="it-IT" altLang="it-IT" b="0" dirty="0" err="1"/>
              <a:t>better</a:t>
            </a:r>
            <a:r>
              <a:rPr lang="it-IT" altLang="it-IT" b="0" dirty="0"/>
              <a:t> </a:t>
            </a:r>
            <a:r>
              <a:rPr lang="it-IT" altLang="it-IT" b="0" dirty="0" err="1"/>
              <a:t>understand</a:t>
            </a:r>
            <a:r>
              <a:rPr lang="it-IT" altLang="it-IT" b="0" dirty="0"/>
              <a:t> </a:t>
            </a:r>
            <a:r>
              <a:rPr lang="it-IT" altLang="it-IT" b="0" dirty="0" err="1"/>
              <a:t>sustainability</a:t>
            </a:r>
            <a:r>
              <a:rPr lang="it-IT" altLang="it-IT" b="0" dirty="0"/>
              <a:t> in </a:t>
            </a:r>
            <a:r>
              <a:rPr lang="it-IT" altLang="it-IT" b="0" dirty="0" err="1"/>
              <a:t>higher</a:t>
            </a:r>
            <a:r>
              <a:rPr lang="it-IT" altLang="it-IT" b="0" dirty="0"/>
              <a:t> </a:t>
            </a:r>
            <a:r>
              <a:rPr lang="it-IT" altLang="it-IT" b="0" dirty="0" err="1"/>
              <a:t>education</a:t>
            </a:r>
            <a:r>
              <a:rPr lang="it-IT" altLang="it-IT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8581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C038-FA1D-6BCA-09F2-7A5AA2E4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6016732-628A-FD8A-5A63-F15BF0E0D2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18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20BA345-4330-5786-2FC9-55E50DE5E3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AFAC8EF-B34E-17DA-1473-69B34295B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Rankings part of </a:t>
            </a:r>
            <a:r>
              <a:rPr lang="it-IT" altLang="it-IT" b="1" err="1"/>
              <a:t>wider</a:t>
            </a:r>
            <a:r>
              <a:rPr lang="it-IT" altLang="it-IT" b="1"/>
              <a:t> </a:t>
            </a:r>
            <a:r>
              <a:rPr lang="it-IT" altLang="it-IT" b="1" err="1"/>
              <a:t>changes</a:t>
            </a:r>
            <a:r>
              <a:rPr lang="it-IT" altLang="it-IT" b="1"/>
              <a:t> in </a:t>
            </a:r>
            <a:r>
              <a:rPr lang="it-IT" altLang="it-IT" b="1" err="1"/>
              <a:t>higher</a:t>
            </a:r>
            <a:r>
              <a:rPr lang="it-IT" altLang="it-IT" b="1"/>
              <a:t> </a:t>
            </a:r>
            <a:r>
              <a:rPr lang="it-IT" altLang="it-IT" b="1" err="1"/>
              <a:t>education</a:t>
            </a:r>
            <a:endParaRPr lang="it-IT" altLang="it-IT" b="1"/>
          </a:p>
          <a:p>
            <a:pPr eaLnBrk="1" hangingPunct="1"/>
            <a:r>
              <a:rPr lang="it-IT" altLang="it-IT" b="0" err="1"/>
              <a:t>Linked</a:t>
            </a:r>
            <a:r>
              <a:rPr lang="it-IT" altLang="it-IT" b="0"/>
              <a:t> to </a:t>
            </a:r>
            <a:r>
              <a:rPr lang="it-IT" altLang="it-IT" b="0" err="1"/>
              <a:t>globalisation</a:t>
            </a:r>
            <a:endParaRPr lang="it-IT" altLang="it-IT" b="0"/>
          </a:p>
          <a:p>
            <a:pPr eaLnBrk="1" hangingPunct="1"/>
            <a:r>
              <a:rPr lang="it-IT" altLang="it-IT" b="0" err="1"/>
              <a:t>Commercialisation</a:t>
            </a:r>
            <a:r>
              <a:rPr lang="it-IT" altLang="it-IT" b="0"/>
              <a:t> of knowledge</a:t>
            </a:r>
          </a:p>
          <a:p>
            <a:pPr eaLnBrk="1" hangingPunct="1"/>
            <a:r>
              <a:rPr lang="it-IT" altLang="it-IT" b="0"/>
              <a:t>Audit culture</a:t>
            </a:r>
          </a:p>
          <a:p>
            <a:pPr eaLnBrk="1" hangingPunct="1"/>
            <a:r>
              <a:rPr lang="it-IT" altLang="it-IT" b="0" err="1"/>
              <a:t>Neoliberal</a:t>
            </a:r>
            <a:r>
              <a:rPr lang="it-IT" altLang="it-IT" b="0"/>
              <a:t> policy </a:t>
            </a:r>
            <a:r>
              <a:rPr lang="it-IT" altLang="it-IT" b="0" err="1"/>
              <a:t>ideas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Universities</a:t>
            </a:r>
            <a:r>
              <a:rPr lang="it-IT" altLang="it-IT" b="1"/>
              <a:t> </a:t>
            </a:r>
            <a:r>
              <a:rPr lang="it-IT" altLang="it-IT" b="1" err="1"/>
              <a:t>increasingly</a:t>
            </a:r>
            <a:r>
              <a:rPr lang="it-IT" altLang="it-IT" b="1"/>
              <a:t> </a:t>
            </a:r>
            <a:r>
              <a:rPr lang="it-IT" altLang="it-IT" b="1" err="1"/>
              <a:t>compared</a:t>
            </a:r>
            <a:r>
              <a:rPr lang="it-IT" altLang="it-IT" b="1"/>
              <a:t> </a:t>
            </a:r>
            <a:r>
              <a:rPr lang="it-IT" altLang="it-IT" b="1" err="1"/>
              <a:t>using</a:t>
            </a:r>
            <a:r>
              <a:rPr lang="it-IT" altLang="it-IT" b="1"/>
              <a:t> </a:t>
            </a:r>
            <a:r>
              <a:rPr lang="it-IT" altLang="it-IT" b="1" err="1"/>
              <a:t>numbers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influence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of institutions and global </a:t>
            </a:r>
            <a:r>
              <a:rPr lang="it-IT" altLang="it-IT" b="1" err="1"/>
              <a:t>competition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0"/>
              <a:t>Rankings are part of a </a:t>
            </a:r>
            <a:r>
              <a:rPr lang="it-IT" altLang="it-IT" b="0" err="1"/>
              <a:t>larger</a:t>
            </a:r>
            <a:r>
              <a:rPr lang="it-IT" altLang="it-IT" b="0"/>
              <a:t> </a:t>
            </a:r>
            <a:r>
              <a:rPr lang="it-IT" altLang="it-IT" b="0" err="1"/>
              <a:t>transformation</a:t>
            </a:r>
            <a:r>
              <a:rPr lang="it-IT" altLang="it-IT" b="0"/>
              <a:t> of </a:t>
            </a:r>
            <a:r>
              <a:rPr lang="it-IT" altLang="it-IT" b="0" err="1"/>
              <a:t>higher</a:t>
            </a:r>
            <a:r>
              <a:rPr lang="it-IT" altLang="it-IT" b="0"/>
              <a:t> </a:t>
            </a:r>
            <a:r>
              <a:rPr lang="it-IT" altLang="it-IT" b="0" err="1"/>
              <a:t>education</a:t>
            </a:r>
            <a:endParaRPr lang="it-IT" altLang="it-IT" b="0"/>
          </a:p>
        </p:txBody>
      </p:sp>
    </p:spTree>
    <p:extLst>
      <p:ext uri="{BB962C8B-B14F-4D97-AF65-F5344CB8AC3E}">
        <p14:creationId xmlns:p14="http://schemas.microsoft.com/office/powerpoint/2010/main" val="592063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B5EF-B6E3-73AE-8946-BAB11E2B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6928525-10E5-5266-1156-8C2E5D0F8B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19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C7C1C23-1371-F475-5A32-C490481C3F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ADFC701-6620-6F08-3D39-4762A640C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Rankings part of </a:t>
            </a:r>
            <a:r>
              <a:rPr lang="it-IT" altLang="it-IT" b="1" err="1"/>
              <a:t>wider</a:t>
            </a:r>
            <a:r>
              <a:rPr lang="it-IT" altLang="it-IT" b="1"/>
              <a:t> </a:t>
            </a:r>
            <a:r>
              <a:rPr lang="it-IT" altLang="it-IT" b="1" err="1"/>
              <a:t>changes</a:t>
            </a:r>
            <a:r>
              <a:rPr lang="it-IT" altLang="it-IT" b="1"/>
              <a:t> in </a:t>
            </a:r>
            <a:r>
              <a:rPr lang="it-IT" altLang="it-IT" b="1" err="1"/>
              <a:t>higher</a:t>
            </a:r>
            <a:r>
              <a:rPr lang="it-IT" altLang="it-IT" b="1"/>
              <a:t> </a:t>
            </a:r>
            <a:r>
              <a:rPr lang="it-IT" altLang="it-IT" b="1" err="1"/>
              <a:t>education</a:t>
            </a:r>
            <a:endParaRPr lang="it-IT" altLang="it-IT" b="1"/>
          </a:p>
          <a:p>
            <a:pPr eaLnBrk="1" hangingPunct="1"/>
            <a:r>
              <a:rPr lang="it-IT" altLang="it-IT" b="0" err="1"/>
              <a:t>Linked</a:t>
            </a:r>
            <a:r>
              <a:rPr lang="it-IT" altLang="it-IT" b="0"/>
              <a:t> to </a:t>
            </a:r>
            <a:r>
              <a:rPr lang="it-IT" altLang="it-IT" b="0" err="1"/>
              <a:t>globalisation</a:t>
            </a:r>
            <a:endParaRPr lang="it-IT" altLang="it-IT" b="0"/>
          </a:p>
          <a:p>
            <a:pPr eaLnBrk="1" hangingPunct="1"/>
            <a:r>
              <a:rPr lang="it-IT" altLang="it-IT" b="0" err="1"/>
              <a:t>Commercialisation</a:t>
            </a:r>
            <a:r>
              <a:rPr lang="it-IT" altLang="it-IT" b="0"/>
              <a:t> of knowledge</a:t>
            </a:r>
          </a:p>
          <a:p>
            <a:pPr eaLnBrk="1" hangingPunct="1"/>
            <a:r>
              <a:rPr lang="it-IT" altLang="it-IT" b="0"/>
              <a:t>Audit culture</a:t>
            </a:r>
          </a:p>
          <a:p>
            <a:pPr eaLnBrk="1" hangingPunct="1"/>
            <a:r>
              <a:rPr lang="it-IT" altLang="it-IT" b="0" err="1"/>
              <a:t>Neoliberal</a:t>
            </a:r>
            <a:r>
              <a:rPr lang="it-IT" altLang="it-IT" b="0"/>
              <a:t> policy </a:t>
            </a:r>
            <a:r>
              <a:rPr lang="it-IT" altLang="it-IT" b="0" err="1"/>
              <a:t>ideas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Universities</a:t>
            </a:r>
            <a:r>
              <a:rPr lang="it-IT" altLang="it-IT" b="1"/>
              <a:t> </a:t>
            </a:r>
            <a:r>
              <a:rPr lang="it-IT" altLang="it-IT" b="1" err="1"/>
              <a:t>increasingly</a:t>
            </a:r>
            <a:r>
              <a:rPr lang="it-IT" altLang="it-IT" b="1"/>
              <a:t> </a:t>
            </a:r>
            <a:r>
              <a:rPr lang="it-IT" altLang="it-IT" b="1" err="1"/>
              <a:t>compared</a:t>
            </a:r>
            <a:r>
              <a:rPr lang="it-IT" altLang="it-IT" b="1"/>
              <a:t> </a:t>
            </a:r>
            <a:r>
              <a:rPr lang="it-IT" altLang="it-IT" b="1" err="1"/>
              <a:t>using</a:t>
            </a:r>
            <a:r>
              <a:rPr lang="it-IT" altLang="it-IT" b="1"/>
              <a:t> </a:t>
            </a:r>
            <a:r>
              <a:rPr lang="it-IT" altLang="it-IT" b="1" err="1"/>
              <a:t>numbers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influence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of institutions and global </a:t>
            </a:r>
            <a:r>
              <a:rPr lang="it-IT" altLang="it-IT" b="1" err="1"/>
              <a:t>competition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0"/>
              <a:t>Rankings are part of a </a:t>
            </a:r>
            <a:r>
              <a:rPr lang="it-IT" altLang="it-IT" b="0" err="1"/>
              <a:t>larger</a:t>
            </a:r>
            <a:r>
              <a:rPr lang="it-IT" altLang="it-IT" b="0"/>
              <a:t> </a:t>
            </a:r>
            <a:r>
              <a:rPr lang="it-IT" altLang="it-IT" b="0" err="1"/>
              <a:t>transformation</a:t>
            </a:r>
            <a:r>
              <a:rPr lang="it-IT" altLang="it-IT" b="0"/>
              <a:t> of </a:t>
            </a:r>
            <a:r>
              <a:rPr lang="it-IT" altLang="it-IT" b="0" err="1"/>
              <a:t>higher</a:t>
            </a:r>
            <a:r>
              <a:rPr lang="it-IT" altLang="it-IT" b="0"/>
              <a:t> </a:t>
            </a:r>
            <a:r>
              <a:rPr lang="it-IT" altLang="it-IT" b="0" err="1"/>
              <a:t>education</a:t>
            </a:r>
            <a:endParaRPr lang="it-IT" altLang="it-IT" b="0"/>
          </a:p>
        </p:txBody>
      </p:sp>
    </p:spTree>
    <p:extLst>
      <p:ext uri="{BB962C8B-B14F-4D97-AF65-F5344CB8AC3E}">
        <p14:creationId xmlns:p14="http://schemas.microsoft.com/office/powerpoint/2010/main" val="2721789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05A6-6E03-4F7C-0C08-7BF60AD2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8647BC39-C20F-95BE-5DB5-ED544AD4F0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061E75-E5D5-0B42-974B-A24997DAE0BE}" type="slidenum">
              <a:rPr lang="it-IT" altLang="it-IT" sz="1200">
                <a:solidFill>
                  <a:schemeClr val="tx1"/>
                </a:solidFill>
              </a:rPr>
              <a:pPr/>
              <a:t>20</a:t>
            </a:fld>
            <a:endParaRPr lang="it-IT" altLang="it-IT" sz="1200">
              <a:solidFill>
                <a:schemeClr val="tx1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BC66A3A-F0A2-02CA-E6E7-A9943E08F5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1A67392-7942-CC99-4D47-F8420258A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 b="1"/>
              <a:t>Rankings part of </a:t>
            </a:r>
            <a:r>
              <a:rPr lang="it-IT" altLang="it-IT" b="1" err="1"/>
              <a:t>wider</a:t>
            </a:r>
            <a:r>
              <a:rPr lang="it-IT" altLang="it-IT" b="1"/>
              <a:t> </a:t>
            </a:r>
            <a:r>
              <a:rPr lang="it-IT" altLang="it-IT" b="1" err="1"/>
              <a:t>changes</a:t>
            </a:r>
            <a:r>
              <a:rPr lang="it-IT" altLang="it-IT" b="1"/>
              <a:t> in </a:t>
            </a:r>
            <a:r>
              <a:rPr lang="it-IT" altLang="it-IT" b="1" err="1"/>
              <a:t>higher</a:t>
            </a:r>
            <a:r>
              <a:rPr lang="it-IT" altLang="it-IT" b="1"/>
              <a:t> </a:t>
            </a:r>
            <a:r>
              <a:rPr lang="it-IT" altLang="it-IT" b="1" err="1"/>
              <a:t>education</a:t>
            </a:r>
            <a:endParaRPr lang="it-IT" altLang="it-IT" b="1"/>
          </a:p>
          <a:p>
            <a:pPr eaLnBrk="1" hangingPunct="1"/>
            <a:r>
              <a:rPr lang="it-IT" altLang="it-IT" b="0" err="1"/>
              <a:t>Linked</a:t>
            </a:r>
            <a:r>
              <a:rPr lang="it-IT" altLang="it-IT" b="0"/>
              <a:t> to </a:t>
            </a:r>
            <a:r>
              <a:rPr lang="it-IT" altLang="it-IT" b="0" err="1"/>
              <a:t>globalisation</a:t>
            </a:r>
            <a:endParaRPr lang="it-IT" altLang="it-IT" b="0"/>
          </a:p>
          <a:p>
            <a:pPr eaLnBrk="1" hangingPunct="1"/>
            <a:r>
              <a:rPr lang="it-IT" altLang="it-IT" b="0" err="1"/>
              <a:t>Commercialisation</a:t>
            </a:r>
            <a:r>
              <a:rPr lang="it-IT" altLang="it-IT" b="0"/>
              <a:t> of knowledge</a:t>
            </a:r>
          </a:p>
          <a:p>
            <a:pPr eaLnBrk="1" hangingPunct="1"/>
            <a:r>
              <a:rPr lang="it-IT" altLang="it-IT" b="0"/>
              <a:t>Audit culture</a:t>
            </a:r>
          </a:p>
          <a:p>
            <a:pPr eaLnBrk="1" hangingPunct="1"/>
            <a:r>
              <a:rPr lang="it-IT" altLang="it-IT" b="0" err="1"/>
              <a:t>Neoliberal</a:t>
            </a:r>
            <a:r>
              <a:rPr lang="it-IT" altLang="it-IT" b="0"/>
              <a:t> policy </a:t>
            </a:r>
            <a:r>
              <a:rPr lang="it-IT" altLang="it-IT" b="0" err="1"/>
              <a:t>ideas</a:t>
            </a:r>
            <a:endParaRPr lang="it-IT" altLang="it-IT" b="0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 err="1"/>
              <a:t>Universities</a:t>
            </a:r>
            <a:r>
              <a:rPr lang="it-IT" altLang="it-IT" b="1"/>
              <a:t> </a:t>
            </a:r>
            <a:r>
              <a:rPr lang="it-IT" altLang="it-IT" b="1" err="1"/>
              <a:t>increasingly</a:t>
            </a:r>
            <a:r>
              <a:rPr lang="it-IT" altLang="it-IT" b="1"/>
              <a:t> </a:t>
            </a:r>
            <a:r>
              <a:rPr lang="it-IT" altLang="it-IT" b="1" err="1"/>
              <a:t>compared</a:t>
            </a:r>
            <a:r>
              <a:rPr lang="it-IT" altLang="it-IT" b="1"/>
              <a:t> </a:t>
            </a:r>
            <a:r>
              <a:rPr lang="it-IT" altLang="it-IT" b="1" err="1"/>
              <a:t>using</a:t>
            </a:r>
            <a:r>
              <a:rPr lang="it-IT" altLang="it-IT" b="1"/>
              <a:t> </a:t>
            </a:r>
            <a:r>
              <a:rPr lang="it-IT" altLang="it-IT" b="1" err="1"/>
              <a:t>numbers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1"/>
              <a:t>Rankings </a:t>
            </a:r>
            <a:r>
              <a:rPr lang="it-IT" altLang="it-IT" b="1" err="1"/>
              <a:t>influence</a:t>
            </a:r>
            <a:r>
              <a:rPr lang="it-IT" altLang="it-IT" b="1"/>
              <a:t> </a:t>
            </a:r>
            <a:r>
              <a:rPr lang="it-IT" altLang="it-IT" b="1" err="1"/>
              <a:t>behaviour</a:t>
            </a:r>
            <a:r>
              <a:rPr lang="it-IT" altLang="it-IT" b="1"/>
              <a:t> of institutions and global </a:t>
            </a:r>
            <a:r>
              <a:rPr lang="it-IT" altLang="it-IT" b="1" err="1"/>
              <a:t>competition</a:t>
            </a:r>
            <a:endParaRPr lang="it-IT" altLang="it-IT" b="1"/>
          </a:p>
          <a:p>
            <a:pPr eaLnBrk="1" hangingPunct="1"/>
            <a:endParaRPr lang="it-IT" altLang="it-IT" b="0"/>
          </a:p>
          <a:p>
            <a:pPr eaLnBrk="1" hangingPunct="1"/>
            <a:r>
              <a:rPr lang="it-IT" altLang="it-IT" b="0"/>
              <a:t>Rankings are part of a </a:t>
            </a:r>
            <a:r>
              <a:rPr lang="it-IT" altLang="it-IT" b="0" err="1"/>
              <a:t>larger</a:t>
            </a:r>
            <a:r>
              <a:rPr lang="it-IT" altLang="it-IT" b="0"/>
              <a:t> </a:t>
            </a:r>
            <a:r>
              <a:rPr lang="it-IT" altLang="it-IT" b="0" err="1"/>
              <a:t>transformation</a:t>
            </a:r>
            <a:r>
              <a:rPr lang="it-IT" altLang="it-IT" b="0"/>
              <a:t> of </a:t>
            </a:r>
            <a:r>
              <a:rPr lang="it-IT" altLang="it-IT" b="0" err="1"/>
              <a:t>higher</a:t>
            </a:r>
            <a:r>
              <a:rPr lang="it-IT" altLang="it-IT" b="0"/>
              <a:t> </a:t>
            </a:r>
            <a:r>
              <a:rPr lang="it-IT" altLang="it-IT" b="0" err="1"/>
              <a:t>education</a:t>
            </a:r>
            <a:endParaRPr lang="it-IT" altLang="it-IT" b="0"/>
          </a:p>
        </p:txBody>
      </p:sp>
    </p:spTree>
    <p:extLst>
      <p:ext uri="{BB962C8B-B14F-4D97-AF65-F5344CB8AC3E}">
        <p14:creationId xmlns:p14="http://schemas.microsoft.com/office/powerpoint/2010/main" val="323682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DA0341-FC3C-4422-94EE-DE2382B2B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6476282-F32D-4ECD-852B-95EC88041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6376A7-609D-882B-C7E2-4577BC0D5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668F7-EEDF-3D4C-B982-8A77F9CF88FE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D2ABE5-558A-7A2B-A6C4-1EEA05E81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A255E8-CF9F-63E9-9E9B-435FD55D15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87D17C53-4EF5-264B-91C8-D532EA8418FC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6406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3C01AE-5E4D-4A19-8779-58527A23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47B325-2A5D-43DC-9160-B4510C6A0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F0DFA7-8F85-60F0-1D45-00F4B9AF9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B9722-62A8-414E-91D9-990FAF4EF43B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B4D586-4AC1-A728-547E-00AEB22CE3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704943-6702-6CEE-AF55-6501A101C1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BDD0D44A-F65D-BD4B-BB9E-315339CB61C6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0211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9FB3F-AC1B-4839-BF69-3C99F0F8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D585BB-354A-416C-9AA5-1407E67D5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EA3A9B-D51B-5031-4D9D-265A642136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28A2D-6099-864A-91FC-ED6958C3D261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CB4D61-64B9-BFB8-3852-092D8D674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F471DB-9B29-C859-1F0E-04F617779F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FFBC6108-6250-834C-BAE7-1B81EBAB31A7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5302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923810-29BF-494D-8376-DBAD50A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8CFD96-C42D-4BE4-AA7D-7F0D6FB0D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6013" y="1752600"/>
            <a:ext cx="3703637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D12B33-5075-4AD5-91D5-41869B4B4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2050" y="1752600"/>
            <a:ext cx="3703638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E22C8-1897-EE25-C127-9557715DC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A8ECB-067E-6B45-A6B0-19AF73DEB685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51DCBA-54C7-9A58-D72B-22F4A5B6AD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C329D7-304C-5B3F-5445-975AD6CC20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5FDF8C11-F750-8445-8866-47CEAB47AF2A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828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72E05D-C40D-486E-A2FF-2140A6B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812BDC-5E73-43B1-93E1-3BEA7E219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4B1504-F4DD-4478-924C-CEDCFBBFB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E148468-40EB-46D6-88D7-402AB9E3F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BCCE30B-4C3E-4757-98B2-A98714529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7838C6-D139-313F-C024-46737BA96A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E2F1A-780D-B64B-9783-41F8DCD32D82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B81B9A6-A7E6-7EBE-456D-5D65E744B4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319AE9-F029-2744-DEC3-FEE6E559EB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57A69F59-8F53-2A41-A2CC-4E20F327B258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45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833BFD-D8C9-4B74-AB94-FC45AC81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7F3250-D4BD-8352-44C6-702ED03DC7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0D067-ADFB-7A42-BCA2-2277A372E244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EA2B8CF-51FF-615E-C941-7E3B6637D7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74CA0F-4F23-4CD6-13C3-78C79704B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0E2711DA-393A-EC46-AC59-9597EFE94B00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9359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3F5EB85-76FE-0539-8421-FC4A7473E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2B6B8-B2CB-324C-95C1-47ECC70E92CD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70EB591-F13C-F5B5-30E0-0467C6D93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F26F15-9577-B160-C08D-8D72DE517A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CF42680C-FA97-C943-B513-CFC08E917635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3037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441AF4-46E0-4F21-81F0-2CC85CAC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7AAFBC-1579-4B8E-912C-75B18C00D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7E1802-A9AC-413B-9750-B99D771DF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492AAC-A5BC-C35C-68CF-44AB418965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CF5C3-3E9A-4A41-B10D-4B91E3691A04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0BF39-74F3-B2D7-808E-EEAB666C5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DDBE5-F158-B316-D451-7FF7739CDF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8C484D1F-D899-7344-B345-03B27A69416F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2539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96588D-8D3C-4023-9685-AE9BA11CF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59D5DF1-0499-428D-85EC-B5B8BCC04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C7F0719-EDDA-44D6-B03D-0B24347B6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C5FBA-D679-7C78-889A-F987DF31DE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5016D-B552-9345-96C4-24D51B920A82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9659E-639D-6322-0977-7824175802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FA3A2-37D2-5F6E-F897-F2BF8F62C5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4E784794-9DCD-7846-B0EA-AE204272123F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47856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9B2DB-6E53-4896-A0F2-5BCC5D77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DDE009-FC79-407D-B7EE-D92C6448D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601D86-D181-0998-24D7-3B8396650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5EBB2-887B-CD4E-A336-A8C4540AEBF5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36003D-B79E-78EF-DC27-E1C6623CA5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690CB6-790F-6901-AFAD-204B1D8DD3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34A0BA12-22B6-9D4A-932E-6764F7955303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8361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1B09450-4EBF-402B-8C8B-29868E023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6563" y="409575"/>
            <a:ext cx="1889125" cy="54578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329D512-ED31-45D2-97F6-00BA837A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6013" y="409575"/>
            <a:ext cx="5518150" cy="54578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314F40-D035-0B9D-E6CF-4B37D9B796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7B001-D386-CD4D-970B-D6445B2F4925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511360-2599-6F7B-55DF-EC0BD3964D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C65606-C596-E7BE-AE66-AC8D687D84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D54BD381-3F2C-3140-AEF2-50F9D298C91F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9767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FD5D17-C283-4C72-B366-B266DB2B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D56E0B-5387-4083-A93D-727AC69C5E9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16013" y="1752600"/>
            <a:ext cx="3703637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32A395-BE42-432E-9A08-13E191CF5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2050" y="1752600"/>
            <a:ext cx="3703638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A6BD31-0E31-DF7C-95A8-FFA6F289E0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DD3A-AD42-6843-A5A6-B5A2A76FFFBB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6B6F9-335A-F267-1840-441B2E927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FFB35-E1FD-7C79-B8BC-F729B80AD7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CA019159-3D41-4347-9E4E-2D45AC1E357D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17305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886FCE-12B4-4807-8D12-143CFF98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abella 2">
            <a:extLst>
              <a:ext uri="{FF2B5EF4-FFF2-40B4-BE49-F238E27FC236}">
                <a16:creationId xmlns:a16="http://schemas.microsoft.com/office/drawing/2014/main" id="{81735B9B-198F-460E-BA6F-59DA443D87B1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116013" y="1752600"/>
            <a:ext cx="7559675" cy="411480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525EE2-A8E4-4593-0AE7-0662925A4C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4AD33-88D0-9B40-831D-71D971A8D0CA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5254D3-883E-AAA1-83B6-C1AA630833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77125F-3E16-2738-9F30-62FC9C9DD0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6F8F9953-4BAB-8241-8AA6-9CE2BE013E52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8363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ol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FC7227-406E-41F7-B330-1035157C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grafico 2">
            <a:extLst>
              <a:ext uri="{FF2B5EF4-FFF2-40B4-BE49-F238E27FC236}">
                <a16:creationId xmlns:a16="http://schemas.microsoft.com/office/drawing/2014/main" id="{E28733E2-83CD-4955-AB9D-4F84C6DC7E3A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1116013" y="1752600"/>
            <a:ext cx="7559675" cy="411480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E257ED-F352-CB63-09F8-2ECEF4EA90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10C2C-9BC6-EC4F-88A9-E1C51DB14F1C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8345D3-C310-4E55-5E4E-6900141AF3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7C082E-76B0-272C-5958-6459F3F89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92F2FC08-B533-D545-B0C7-E4D55D2BD0FF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8392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">
            <a:extLst>
              <a:ext uri="{FF2B5EF4-FFF2-40B4-BE49-F238E27FC236}">
                <a16:creationId xmlns:a16="http://schemas.microsoft.com/office/drawing/2014/main" id="{76D950CB-18F2-FAFA-E94E-64C2044E295B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032" name="Rectangle 13">
              <a:extLst>
                <a:ext uri="{FF2B5EF4-FFF2-40B4-BE49-F238E27FC236}">
                  <a16:creationId xmlns:a16="http://schemas.microsoft.com/office/drawing/2014/main" id="{52670049-F591-4777-99A3-32A1A41394F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/>
            </a:p>
          </p:txBody>
        </p:sp>
        <p:sp>
          <p:nvSpPr>
            <p:cNvPr id="1033" name="Rectangle 14">
              <a:extLst>
                <a:ext uri="{FF2B5EF4-FFF2-40B4-BE49-F238E27FC236}">
                  <a16:creationId xmlns:a16="http://schemas.microsoft.com/office/drawing/2014/main" id="{15535586-2D6E-4AD7-B633-3E284BCFB6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9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/>
            </a:p>
          </p:txBody>
        </p:sp>
      </p:grpSp>
      <p:sp>
        <p:nvSpPr>
          <p:cNvPr id="1027" name="Rectangle 2">
            <a:extLst>
              <a:ext uri="{FF2B5EF4-FFF2-40B4-BE49-F238E27FC236}">
                <a16:creationId xmlns:a16="http://schemas.microsoft.com/office/drawing/2014/main" id="{260E22BB-C315-4455-A3C2-9406E553F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4AC276E-24ED-19DD-4EC6-DE48C3D4D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CF8ECC0-A724-4617-BFD8-D773F7D533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4FD43F94-D96C-F947-A3CD-9217BB772F15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3E79917-62A2-46BB-9C1D-2BAE3424A8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it-IT" altLang="it-IT"/>
              <a:t>Results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F6F1D3-914C-4392-A58D-7F9C457654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r>
              <a:rPr lang="it-IT" altLang="it-IT"/>
              <a:t>Pagina </a:t>
            </a:r>
            <a:fld id="{83BEBEB5-D8FA-C14F-91A7-464CE48C63B7}" type="slidenum">
              <a:rPr lang="it-IT" altLang="it-IT"/>
              <a:pPr/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8224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22433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E_BE39C73F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B4_B0F6BE4B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>
            <a:extLst>
              <a:ext uri="{FF2B5EF4-FFF2-40B4-BE49-F238E27FC236}">
                <a16:creationId xmlns:a16="http://schemas.microsoft.com/office/drawing/2014/main" id="{CFD5C8FF-4217-9383-10F3-2507E73CB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00677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DB00819B-13B6-6459-F507-D1A4D837BD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49037" y="1936750"/>
            <a:ext cx="6138862" cy="685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GB" sz="1800" noProof="1">
                <a:solidFill>
                  <a:schemeClr val="bg1"/>
                </a:solidFill>
              </a:rPr>
              <a:t>Presented by Edward King, Filipe Caçador, Natxo de la Rubia and Gennaro De Cicco</a:t>
            </a:r>
          </a:p>
        </p:txBody>
      </p:sp>
      <p:grpSp>
        <p:nvGrpSpPr>
          <p:cNvPr id="4101" name="Group 17">
            <a:extLst>
              <a:ext uri="{FF2B5EF4-FFF2-40B4-BE49-F238E27FC236}">
                <a16:creationId xmlns:a16="http://schemas.microsoft.com/office/drawing/2014/main" id="{5B4FE5AE-E9AF-1C8B-F370-A16FF870F137}"/>
              </a:ext>
            </a:extLst>
          </p:cNvPr>
          <p:cNvGrpSpPr>
            <a:grpSpLocks/>
          </p:cNvGrpSpPr>
          <p:nvPr/>
        </p:nvGrpSpPr>
        <p:grpSpPr bwMode="auto">
          <a:xfrm>
            <a:off x="0" y="2759075"/>
            <a:ext cx="9145588" cy="4098925"/>
            <a:chOff x="0" y="1738"/>
            <a:chExt cx="5761" cy="2582"/>
          </a:xfrm>
        </p:grpSpPr>
        <p:pic>
          <p:nvPicPr>
            <p:cNvPr id="4103" name="Picture 15" descr="Fondino">
              <a:extLst>
                <a:ext uri="{FF2B5EF4-FFF2-40B4-BE49-F238E27FC236}">
                  <a16:creationId xmlns:a16="http://schemas.microsoft.com/office/drawing/2014/main" id="{B603FD83-A34E-F949-4809-A95AB1C68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58"/>
              <a:ext cx="5760" cy="2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4" name="Picture 13" descr="logo +marchio">
              <a:extLst>
                <a:ext uri="{FF2B5EF4-FFF2-40B4-BE49-F238E27FC236}">
                  <a16:creationId xmlns:a16="http://schemas.microsoft.com/office/drawing/2014/main" id="{6DC2485D-F710-965D-95A7-C5F6C17CF9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60"/>
              <a:ext cx="5761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5" name="Picture 16" descr="fascia">
              <a:extLst>
                <a:ext uri="{FF2B5EF4-FFF2-40B4-BE49-F238E27FC236}">
                  <a16:creationId xmlns:a16="http://schemas.microsoft.com/office/drawing/2014/main" id="{C15185B7-A4C3-3214-E2A8-FBDFB0F4D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6" y="1738"/>
              <a:ext cx="4444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2" name="CasellaDiTesto 1">
            <a:extLst>
              <a:ext uri="{FF2B5EF4-FFF2-40B4-BE49-F238E27FC236}">
                <a16:creationId xmlns:a16="http://schemas.microsoft.com/office/drawing/2014/main" id="{A161873D-CD5F-19BE-8D2D-313739A58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962" y="5894940"/>
            <a:ext cx="62166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it-IT"/>
            </a:defPPr>
            <a:lvl1pPr algn="just">
              <a:buClrTx/>
              <a:buFontTx/>
              <a:buNone/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</a:defRPr>
            </a:lvl9pPr>
          </a:lstStyle>
          <a:p>
            <a:r>
              <a:rPr lang="en-GB" noProof="1"/>
              <a:t>Tutti i diritti relativi al presente materiale didattico ed al suo contenuto sono riservati a Sapienza e ai suoi autori (o docenti che lo hanno prodotto). È consentito l'uso personale dello stesso da parte dello studente a fini di studio. Ne è vietata nel modo più assoluto la diffusione, duplicazione, cessione, trasmissione, distribuzione a terzi o al pubblico pena le sanzioni applicabili per legge</a:t>
            </a:r>
          </a:p>
          <a:p>
            <a:endParaRPr lang="en-GB" noProof="1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89260E5-CFD6-9D31-07FC-4FB9B1FEAE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47900" y="387350"/>
            <a:ext cx="6096000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GB" sz="2400" noProof="1">
                <a:solidFill>
                  <a:schemeClr val="bg1"/>
                </a:solidFill>
              </a:rPr>
              <a:t>Bridging the Gap Between Quantitative Rankings and Qualitative Assessment in University Sustainability: A Framework for Italian Universities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C97C-35E1-0417-9E12-3286C9B1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DD90CFD9-8701-6D10-5D1E-64F5C17C05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FF9E6C-98DD-1647-B543-9A00D88972EF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B6F5291D-2BA1-936C-5E3F-7A68E857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37D3BA6A-90AF-1A82-A31B-F85822FE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1320" y="6146800"/>
            <a:ext cx="3635725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74134811-EEA5-F540-930C-E3C76981342C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3F0BC29A-7E6A-6E1F-F122-D0EBC73FE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 noProof="1"/>
              <a:t>Motivation / Research Problem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080A0582-743A-7CFA-3A27-841DA8645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8E785E3F-D61B-4924-5D96-B4D10BF2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Addressing the gap between quantitative university rankings and qualitative sustainability assessment</a:t>
            </a:r>
            <a:endParaRPr lang="en-GB" sz="2200" noProof="1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B2264C-9BA0-D5AF-F719-F11933654213}"/>
              </a:ext>
            </a:extLst>
          </p:cNvPr>
          <p:cNvGrpSpPr/>
          <p:nvPr/>
        </p:nvGrpSpPr>
        <p:grpSpPr>
          <a:xfrm>
            <a:off x="6084168" y="1844824"/>
            <a:ext cx="2088232" cy="648072"/>
            <a:chOff x="5796136" y="1844824"/>
            <a:chExt cx="2088232" cy="71714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D4BDA22-B7CD-6901-0FA7-67A62EE4697B}"/>
                </a:ext>
              </a:extLst>
            </p:cNvPr>
            <p:cNvSpPr/>
            <p:nvPr/>
          </p:nvSpPr>
          <p:spPr bwMode="auto">
            <a:xfrm>
              <a:off x="5796136" y="1844824"/>
              <a:ext cx="2088232" cy="717144"/>
            </a:xfrm>
            <a:prstGeom prst="roundRect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841D48-12DE-A897-D827-2830726D553C}"/>
                </a:ext>
              </a:extLst>
            </p:cNvPr>
            <p:cNvSpPr txBox="1"/>
            <p:nvPr/>
          </p:nvSpPr>
          <p:spPr>
            <a:xfrm>
              <a:off x="5990500" y="2033107"/>
              <a:ext cx="1699503" cy="34058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Systematic Review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0C0D2D-DA69-AA06-5A48-053333C4A245}"/>
              </a:ext>
            </a:extLst>
          </p:cNvPr>
          <p:cNvGrpSpPr/>
          <p:nvPr/>
        </p:nvGrpSpPr>
        <p:grpSpPr>
          <a:xfrm>
            <a:off x="6084168" y="2890899"/>
            <a:ext cx="2114682" cy="648072"/>
            <a:chOff x="5796136" y="1844824"/>
            <a:chExt cx="2114682" cy="71714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18B64E7-89BB-09EF-CCE6-4EA503061164}"/>
                </a:ext>
              </a:extLst>
            </p:cNvPr>
            <p:cNvSpPr/>
            <p:nvPr/>
          </p:nvSpPr>
          <p:spPr bwMode="auto">
            <a:xfrm>
              <a:off x="5796136" y="1844824"/>
              <a:ext cx="2088232" cy="717144"/>
            </a:xfrm>
            <a:prstGeom prst="roundRect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06B224-CD69-7C27-B4D4-DAA960BE7699}"/>
                </a:ext>
              </a:extLst>
            </p:cNvPr>
            <p:cNvSpPr txBox="1"/>
            <p:nvPr/>
          </p:nvSpPr>
          <p:spPr>
            <a:xfrm>
              <a:off x="5796136" y="1913702"/>
              <a:ext cx="2114682" cy="578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Identification of </a:t>
              </a:r>
            </a:p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“methodological schism”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8363E6-BC52-BE57-2349-6C74C479F167}"/>
              </a:ext>
            </a:extLst>
          </p:cNvPr>
          <p:cNvGrpSpPr/>
          <p:nvPr/>
        </p:nvGrpSpPr>
        <p:grpSpPr>
          <a:xfrm>
            <a:off x="6084168" y="3936977"/>
            <a:ext cx="2088232" cy="648073"/>
            <a:chOff x="5796136" y="1844824"/>
            <a:chExt cx="2088232" cy="71714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F37A9A9-8D7F-BAC5-4176-C420A9B4E462}"/>
                </a:ext>
              </a:extLst>
            </p:cNvPr>
            <p:cNvSpPr/>
            <p:nvPr/>
          </p:nvSpPr>
          <p:spPr bwMode="auto">
            <a:xfrm>
              <a:off x="5796136" y="1844824"/>
              <a:ext cx="2088232" cy="717144"/>
            </a:xfrm>
            <a:prstGeom prst="roundRect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B8A3CA-EABA-107C-4C1B-843B52A02E42}"/>
                </a:ext>
              </a:extLst>
            </p:cNvPr>
            <p:cNvSpPr txBox="1"/>
            <p:nvPr/>
          </p:nvSpPr>
          <p:spPr>
            <a:xfrm>
              <a:off x="6177069" y="1928361"/>
              <a:ext cx="1241045" cy="578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Efficiency vs </a:t>
              </a:r>
            </a:p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Sustainability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3FCCF2-1C23-7450-7CE7-6B2821092EB8}"/>
              </a:ext>
            </a:extLst>
          </p:cNvPr>
          <p:cNvGrpSpPr/>
          <p:nvPr/>
        </p:nvGrpSpPr>
        <p:grpSpPr>
          <a:xfrm>
            <a:off x="6084168" y="4983049"/>
            <a:ext cx="2088232" cy="648072"/>
            <a:chOff x="5796136" y="1844824"/>
            <a:chExt cx="2088232" cy="71714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8E15966-3E21-961C-C8FF-4B8ADFFCDA60}"/>
                </a:ext>
              </a:extLst>
            </p:cNvPr>
            <p:cNvSpPr/>
            <p:nvPr/>
          </p:nvSpPr>
          <p:spPr bwMode="auto">
            <a:xfrm>
              <a:off x="5796136" y="1844824"/>
              <a:ext cx="2088232" cy="717144"/>
            </a:xfrm>
            <a:prstGeom prst="roundRect">
              <a:avLst/>
            </a:prstGeom>
            <a:grp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2586B0-A85A-EE58-51FB-30C94CE6512B}"/>
                </a:ext>
              </a:extLst>
            </p:cNvPr>
            <p:cNvSpPr txBox="1"/>
            <p:nvPr/>
          </p:nvSpPr>
          <p:spPr>
            <a:xfrm>
              <a:off x="5907144" y="2033105"/>
              <a:ext cx="1866216" cy="34058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Goal: Bridge the Gap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40D532-3EA4-6A8D-7419-CD98D9FA271E}"/>
              </a:ext>
            </a:extLst>
          </p:cNvPr>
          <p:cNvCxnSpPr>
            <a:stCxn id="4" idx="2"/>
            <a:endCxn id="12" idx="0"/>
          </p:cNvCxnSpPr>
          <p:nvPr/>
        </p:nvCxnSpPr>
        <p:spPr bwMode="auto">
          <a:xfrm>
            <a:off x="7128284" y="2492896"/>
            <a:ext cx="0" cy="3980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FF5C71-2440-0E54-1FC3-053D372F1CF2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 bwMode="auto">
          <a:xfrm>
            <a:off x="7128284" y="3538971"/>
            <a:ext cx="0" cy="3980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98B41B-F6FE-811F-49DA-DFAA90B825BD}"/>
              </a:ext>
            </a:extLst>
          </p:cNvPr>
          <p:cNvCxnSpPr>
            <a:cxnSpLocks/>
          </p:cNvCxnSpPr>
          <p:nvPr/>
        </p:nvCxnSpPr>
        <p:spPr bwMode="auto">
          <a:xfrm>
            <a:off x="7128284" y="4585046"/>
            <a:ext cx="0" cy="3980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3D0135B6-0956-B45C-292E-E6641E605CEC}"/>
              </a:ext>
            </a:extLst>
          </p:cNvPr>
          <p:cNvSpPr txBox="1">
            <a:spLocks/>
          </p:cNvSpPr>
          <p:nvPr/>
        </p:nvSpPr>
        <p:spPr bwMode="auto">
          <a:xfrm>
            <a:off x="630238" y="1772816"/>
            <a:ext cx="4589830" cy="4096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/>
              <a:t>Increasing pressure on </a:t>
            </a:r>
            <a:r>
              <a:rPr lang="en-GB" sz="1600" b="1">
                <a:solidFill>
                  <a:schemeClr val="tx1"/>
                </a:solidFill>
              </a:rPr>
              <a:t>Higher Education Institutions (HEIs) </a:t>
            </a:r>
            <a:r>
              <a:rPr lang="en-GB" sz="1600"/>
              <a:t>from the UN 2030 Agenda and ESG expectations</a:t>
            </a:r>
          </a:p>
          <a:p>
            <a:pPr marL="0" indent="0">
              <a:buNone/>
            </a:pPr>
            <a:r>
              <a:rPr lang="en-GB" sz="1600"/>
              <a:t>Traditional university rankings primarily evaluate </a:t>
            </a:r>
            <a:r>
              <a:rPr lang="en-GB" sz="1600" b="1">
                <a:solidFill>
                  <a:schemeClr val="tx1"/>
                </a:solidFill>
              </a:rPr>
              <a:t>operational efficiency </a:t>
            </a:r>
            <a:r>
              <a:rPr lang="en-GB" sz="1600"/>
              <a:t>and </a:t>
            </a:r>
            <a:r>
              <a:rPr lang="en-GB" sz="1600" b="1">
                <a:solidFill>
                  <a:schemeClr val="tx1"/>
                </a:solidFill>
              </a:rPr>
              <a:t>academic productivity</a:t>
            </a:r>
          </a:p>
          <a:p>
            <a:pPr marL="0" indent="0">
              <a:buNone/>
            </a:pPr>
            <a:r>
              <a:rPr lang="en-GB" sz="1600"/>
              <a:t>Sustainability-focused rankings now exist, but often remain</a:t>
            </a:r>
            <a:r>
              <a:rPr lang="en-GB" sz="1600" b="1">
                <a:solidFill>
                  <a:schemeClr val="tx1"/>
                </a:solidFill>
              </a:rPr>
              <a:t> disconnected from institutional context </a:t>
            </a:r>
            <a:r>
              <a:rPr lang="en-GB" sz="1600"/>
              <a:t>and </a:t>
            </a:r>
            <a:r>
              <a:rPr lang="en-GB" sz="1600" b="1">
                <a:solidFill>
                  <a:schemeClr val="tx1"/>
                </a:solidFill>
              </a:rPr>
              <a:t>qualitative behaviour</a:t>
            </a:r>
          </a:p>
          <a:p>
            <a:pPr marL="0" indent="0">
              <a:buNone/>
            </a:pPr>
            <a:r>
              <a:rPr lang="en-GB" sz="1600"/>
              <a:t>Existing frameworks rarely bridge quantitative sustainability metrics with qualitative institutional interpretation</a:t>
            </a:r>
          </a:p>
          <a:p>
            <a:pPr marL="0" indent="0">
              <a:buNone/>
            </a:pPr>
            <a:r>
              <a:rPr lang="en-GB" sz="1600"/>
              <a:t>Our systematic review identified this methodological gap and motivated the development of an </a:t>
            </a:r>
            <a:r>
              <a:rPr lang="en-GB" sz="1600" b="1">
                <a:solidFill>
                  <a:schemeClr val="tx1"/>
                </a:solidFill>
              </a:rPr>
              <a:t>integrated mixed-method framework</a:t>
            </a:r>
            <a:endParaRPr lang="en-GB" sz="1600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45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5A8F9F-BB52-AC47-6471-D2B951C0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80DDC-1E01-A943-AA13-F884E86FAA52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D595E-CE3F-F124-E8FD-464A80F8A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1"/>
              <a:t>Results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049831-DAED-A08E-D2EF-4C1CADB5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57A69F59-8F53-2A41-A2CC-4E20F327B258}" type="slidenum">
              <a:rPr lang="it-IT" altLang="it-IT" smtClean="0"/>
              <a:pPr/>
              <a:t>3</a:t>
            </a:fld>
            <a:endParaRPr lang="it-IT" altLang="it-IT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EC09D6B4-6789-0AA5-342A-0EA288522B9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822547" y="1462059"/>
            <a:ext cx="5069934" cy="3101729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0" noProof="1"/>
              <a:t>Collect institutional efficiency and sustainability metrics</a:t>
            </a:r>
          </a:p>
          <a:p>
            <a:endParaRPr lang="en-GB" sz="1400" b="0" noProof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0" noProof="1"/>
              <a:t>Use correlation analysis to identify </a:t>
            </a:r>
            <a:r>
              <a:rPr lang="en-GB" sz="1400" noProof="1">
                <a:solidFill>
                  <a:schemeClr val="tx1"/>
                </a:solidFill>
              </a:rPr>
              <a:t>potential cross-drivers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b="0" noProof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0" noProof="1"/>
              <a:t>Classify universities using the </a:t>
            </a:r>
            <a:r>
              <a:rPr lang="en-GB" sz="1400" noProof="1">
                <a:solidFill>
                  <a:schemeClr val="tx1"/>
                </a:solidFill>
              </a:rPr>
              <a:t>efficiency-sustainability quadrant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b="0" noProof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0" noProof="1"/>
              <a:t>Contextualise quantitative findings through NLP and web-scraped </a:t>
            </a:r>
            <a:r>
              <a:rPr lang="en-GB" sz="1400" noProof="1">
                <a:solidFill>
                  <a:schemeClr val="tx1"/>
                </a:solidFill>
              </a:rPr>
              <a:t>sustainability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b="0" noProof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0" noProof="1"/>
              <a:t>Provide interpretive institutional insights rather than causal conclusions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67FF2248-AE81-8C8B-514C-DC623FD74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698437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1600" noProof="1"/>
              <a:t>The author argues rankings are related to the following three bodies:</a:t>
            </a:r>
            <a:endParaRPr lang="en-GB" sz="1600" noProof="1">
              <a:solidFill>
                <a:schemeClr val="tx1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0B080C4-7EAD-E118-4D49-27156E576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09575"/>
            <a:ext cx="7416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noProof="1"/>
              <a:t>Research Aim &amp; Framework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B505AD-FCF5-91B3-29AF-8C220FBD7CF9}"/>
              </a:ext>
            </a:extLst>
          </p:cNvPr>
          <p:cNvGrpSpPr/>
          <p:nvPr/>
        </p:nvGrpSpPr>
        <p:grpSpPr>
          <a:xfrm>
            <a:off x="528276" y="1267134"/>
            <a:ext cx="3035612" cy="1030332"/>
            <a:chOff x="2123728" y="1056184"/>
            <a:chExt cx="1870908" cy="10303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560170-CC18-4818-316B-8A365185C87C}"/>
                </a:ext>
              </a:extLst>
            </p:cNvPr>
            <p:cNvSpPr/>
            <p:nvPr/>
          </p:nvSpPr>
          <p:spPr bwMode="auto">
            <a:xfrm>
              <a:off x="2168509" y="1118221"/>
              <a:ext cx="1826127" cy="968295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F7DF46-506D-262E-4C0F-4A50FA945F21}"/>
                </a:ext>
              </a:extLst>
            </p:cNvPr>
            <p:cNvSpPr/>
            <p:nvPr/>
          </p:nvSpPr>
          <p:spPr bwMode="auto">
            <a:xfrm>
              <a:off x="2123728" y="1056184"/>
              <a:ext cx="1826127" cy="10081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BC3556-EFBF-2580-075A-7FBA9124A42A}"/>
                </a:ext>
              </a:extLst>
            </p:cNvPr>
            <p:cNvSpPr txBox="1"/>
            <p:nvPr/>
          </p:nvSpPr>
          <p:spPr>
            <a:xfrm>
              <a:off x="2773696" y="1170787"/>
              <a:ext cx="12209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822333"/>
                  </a:solidFill>
                </a:rPr>
                <a:t>Data</a:t>
              </a:r>
            </a:p>
            <a:p>
              <a:r>
                <a:rPr lang="en-US" sz="2400">
                  <a:solidFill>
                    <a:srgbClr val="822333"/>
                  </a:solidFill>
                </a:rPr>
                <a:t>Collection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9D0A0A-0C6A-256B-E8C6-CC6D632B4914}"/>
              </a:ext>
            </a:extLst>
          </p:cNvPr>
          <p:cNvGrpSpPr/>
          <p:nvPr/>
        </p:nvGrpSpPr>
        <p:grpSpPr>
          <a:xfrm>
            <a:off x="531801" y="2400047"/>
            <a:ext cx="3058270" cy="1030332"/>
            <a:chOff x="2123728" y="1056184"/>
            <a:chExt cx="1887064" cy="103033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DBA568-4EFA-5F8B-1AC7-228A1DF3B652}"/>
                </a:ext>
              </a:extLst>
            </p:cNvPr>
            <p:cNvSpPr/>
            <p:nvPr/>
          </p:nvSpPr>
          <p:spPr bwMode="auto">
            <a:xfrm>
              <a:off x="2168509" y="1118221"/>
              <a:ext cx="1826127" cy="968295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E80D812-BA83-2EAC-8BCD-0659504317EE}"/>
                </a:ext>
              </a:extLst>
            </p:cNvPr>
            <p:cNvSpPr/>
            <p:nvPr/>
          </p:nvSpPr>
          <p:spPr bwMode="auto">
            <a:xfrm>
              <a:off x="2123728" y="1056184"/>
              <a:ext cx="1826127" cy="10081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0C6EED1-F72A-2F8E-9D7B-65D4E051832F}"/>
                </a:ext>
              </a:extLst>
            </p:cNvPr>
            <p:cNvSpPr txBox="1"/>
            <p:nvPr/>
          </p:nvSpPr>
          <p:spPr>
            <a:xfrm>
              <a:off x="2767463" y="1153548"/>
              <a:ext cx="12433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822333"/>
                  </a:solidFill>
                </a:rPr>
                <a:t>Correlation Analysis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B31B32-A021-0043-3FCA-B5972E8E0A86}"/>
              </a:ext>
            </a:extLst>
          </p:cNvPr>
          <p:cNvGrpSpPr/>
          <p:nvPr/>
        </p:nvGrpSpPr>
        <p:grpSpPr>
          <a:xfrm>
            <a:off x="528276" y="3533457"/>
            <a:ext cx="3061795" cy="1030332"/>
            <a:chOff x="2123728" y="1056184"/>
            <a:chExt cx="1887045" cy="103033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9D63B37-1227-B397-4403-3FFF6E0CEA50}"/>
                </a:ext>
              </a:extLst>
            </p:cNvPr>
            <p:cNvSpPr/>
            <p:nvPr/>
          </p:nvSpPr>
          <p:spPr bwMode="auto">
            <a:xfrm>
              <a:off x="2168509" y="1118221"/>
              <a:ext cx="1826127" cy="968295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F1106E-4548-246E-59E5-34747394EE96}"/>
                </a:ext>
              </a:extLst>
            </p:cNvPr>
            <p:cNvSpPr/>
            <p:nvPr/>
          </p:nvSpPr>
          <p:spPr bwMode="auto">
            <a:xfrm>
              <a:off x="2123728" y="1056184"/>
              <a:ext cx="1826127" cy="10081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9B0B8B-A0D6-346D-6380-1E0635FE362B}"/>
                </a:ext>
              </a:extLst>
            </p:cNvPr>
            <p:cNvSpPr txBox="1"/>
            <p:nvPr/>
          </p:nvSpPr>
          <p:spPr>
            <a:xfrm>
              <a:off x="2745054" y="1161565"/>
              <a:ext cx="12657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822333"/>
                  </a:solidFill>
                </a:rPr>
                <a:t>Quadrant</a:t>
              </a:r>
            </a:p>
            <a:p>
              <a:r>
                <a:rPr lang="en-US" sz="2400">
                  <a:solidFill>
                    <a:srgbClr val="822333"/>
                  </a:solidFill>
                </a:rPr>
                <a:t>Identification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435EDDA3-6936-DF19-C712-D60226202DCD}"/>
              </a:ext>
            </a:extLst>
          </p:cNvPr>
          <p:cNvSpPr/>
          <p:nvPr/>
        </p:nvSpPr>
        <p:spPr bwMode="auto">
          <a:xfrm>
            <a:off x="619593" y="1309675"/>
            <a:ext cx="863699" cy="86369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4F13D9-C111-671C-B266-A53DAB10834E}"/>
              </a:ext>
            </a:extLst>
          </p:cNvPr>
          <p:cNvSpPr/>
          <p:nvPr/>
        </p:nvSpPr>
        <p:spPr bwMode="auto">
          <a:xfrm>
            <a:off x="630558" y="2472241"/>
            <a:ext cx="863699" cy="86369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2</a:t>
            </a:r>
            <a:endParaRPr kumimoji="0" lang="en-US" sz="32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0083B4-800D-D24F-15E6-84F4E5FEA889}"/>
              </a:ext>
            </a:extLst>
          </p:cNvPr>
          <p:cNvSpPr/>
          <p:nvPr/>
        </p:nvSpPr>
        <p:spPr bwMode="auto">
          <a:xfrm>
            <a:off x="619592" y="3622488"/>
            <a:ext cx="863699" cy="86369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b="1"/>
              <a:t>3</a:t>
            </a:r>
            <a:endParaRPr kumimoji="0" lang="en-US" sz="32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699A06-9F8F-BD4B-2D1E-408CF7243FDA}"/>
              </a:ext>
            </a:extLst>
          </p:cNvPr>
          <p:cNvSpPr/>
          <p:nvPr/>
        </p:nvSpPr>
        <p:spPr bwMode="auto">
          <a:xfrm>
            <a:off x="3822547" y="4754136"/>
            <a:ext cx="4925917" cy="8126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9050"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“This framework is exploratory and interpretive. The goal is to </a:t>
            </a:r>
            <a:r>
              <a:rPr kumimoji="0" lang="en-US" sz="1400" b="1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contextualise</a:t>
            </a:r>
            <a:r>
              <a:rPr kumimoji="0" 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relationships, not prove causation.”</a:t>
            </a:r>
            <a:endParaRPr kumimoji="0" lang="en-US" sz="105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3F01B2-6AF0-2735-FEC9-70C734EA9D7D}"/>
              </a:ext>
            </a:extLst>
          </p:cNvPr>
          <p:cNvGrpSpPr/>
          <p:nvPr/>
        </p:nvGrpSpPr>
        <p:grpSpPr>
          <a:xfrm>
            <a:off x="528276" y="4666676"/>
            <a:ext cx="3108271" cy="1030332"/>
            <a:chOff x="2123728" y="1056184"/>
            <a:chExt cx="1915689" cy="10303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517263-FAE6-0F82-12A7-576FF9F615CC}"/>
                </a:ext>
              </a:extLst>
            </p:cNvPr>
            <p:cNvSpPr/>
            <p:nvPr/>
          </p:nvSpPr>
          <p:spPr bwMode="auto">
            <a:xfrm>
              <a:off x="2168509" y="1118221"/>
              <a:ext cx="1826127" cy="968295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6FC25A-1EFC-A2FA-85BD-70FBB3C4D2FF}"/>
                </a:ext>
              </a:extLst>
            </p:cNvPr>
            <p:cNvSpPr/>
            <p:nvPr/>
          </p:nvSpPr>
          <p:spPr bwMode="auto">
            <a:xfrm>
              <a:off x="2123728" y="1056184"/>
              <a:ext cx="1826127" cy="10081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822333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09B5AF2-1685-1F45-6C5B-CD34ACEA0A4C}"/>
                </a:ext>
              </a:extLst>
            </p:cNvPr>
            <p:cNvSpPr txBox="1"/>
            <p:nvPr/>
          </p:nvSpPr>
          <p:spPr>
            <a:xfrm>
              <a:off x="2773698" y="1147983"/>
              <a:ext cx="12657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rgbClr val="822333"/>
                  </a:solidFill>
                </a:rPr>
                <a:t>Qualitative</a:t>
              </a:r>
              <a:br>
                <a:rPr lang="en-US" sz="2400">
                  <a:solidFill>
                    <a:srgbClr val="822333"/>
                  </a:solidFill>
                </a:rPr>
              </a:br>
              <a:r>
                <a:rPr lang="en-US" sz="2400">
                  <a:solidFill>
                    <a:srgbClr val="822333"/>
                  </a:solidFill>
                </a:rPr>
                <a:t>Assessment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D43E22B-435D-087A-E9C4-A8C6F948EAB7}"/>
              </a:ext>
            </a:extLst>
          </p:cNvPr>
          <p:cNvSpPr/>
          <p:nvPr/>
        </p:nvSpPr>
        <p:spPr bwMode="auto">
          <a:xfrm>
            <a:off x="623124" y="4755401"/>
            <a:ext cx="863699" cy="86369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8DA6F-2C1F-AB0E-4E97-3E0A62FB0805}"/>
              </a:ext>
            </a:extLst>
          </p:cNvPr>
          <p:cNvSpPr txBox="1"/>
          <p:nvPr/>
        </p:nvSpPr>
        <p:spPr>
          <a:xfrm>
            <a:off x="12228" y="3903133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D4ED-BA1B-84C0-81E9-1D7448DC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0ABE14-1A3A-BCA5-8197-270A8DF517F9}"/>
              </a:ext>
            </a:extLst>
          </p:cNvPr>
          <p:cNvSpPr/>
          <p:nvPr/>
        </p:nvSpPr>
        <p:spPr bwMode="auto">
          <a:xfrm>
            <a:off x="3753008" y="4219754"/>
            <a:ext cx="4832514" cy="108012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8F02052A-B2C9-713C-A2FF-9A0EF03359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F6748A-8079-7B41-B229-7E6341BEC27C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007E8167-98C5-0912-42EE-51A1FBF9C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E113A-A12C-B817-7C3E-678F31627E95}"/>
              </a:ext>
            </a:extLst>
          </p:cNvPr>
          <p:cNvSpPr/>
          <p:nvPr/>
        </p:nvSpPr>
        <p:spPr bwMode="auto">
          <a:xfrm>
            <a:off x="611560" y="1560432"/>
            <a:ext cx="2895600" cy="108012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4945FFDD-504F-50DA-AC18-5B2F5112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74134811-EEA5-F540-930C-E3C76981342C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D7E768AF-1361-4E09-C923-56FDC990C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/>
              <a:t>Achievement of Objectives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5B0A249A-939C-B688-373F-2E956B8AC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22CB55B8-42AC-8FDC-F624-0744F44E1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000"/>
              <a:t>We extracted data across 29 common universities from the following 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5670B-2286-7507-142E-16DE65FBF60C}"/>
              </a:ext>
            </a:extLst>
          </p:cNvPr>
          <p:cNvSpPr/>
          <p:nvPr/>
        </p:nvSpPr>
        <p:spPr bwMode="auto">
          <a:xfrm>
            <a:off x="3507160" y="1558126"/>
            <a:ext cx="4832514" cy="108012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B2EEC6-98B0-8D1A-F58D-AA81F64D4BE1}"/>
              </a:ext>
            </a:extLst>
          </p:cNvPr>
          <p:cNvSpPr/>
          <p:nvPr/>
        </p:nvSpPr>
        <p:spPr bwMode="auto">
          <a:xfrm>
            <a:off x="1763688" y="1558126"/>
            <a:ext cx="1728192" cy="108012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UI GREEN METRIC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4D94DD-A7CA-1DB7-B558-4EB2DCDCECD4}"/>
              </a:ext>
            </a:extLst>
          </p:cNvPr>
          <p:cNvSpPr/>
          <p:nvPr/>
        </p:nvSpPr>
        <p:spPr bwMode="auto">
          <a:xfrm>
            <a:off x="837758" y="1666138"/>
            <a:ext cx="864096" cy="86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38E1A01F-0A74-1AE7-C68D-5F98A9F464D6}"/>
              </a:ext>
            </a:extLst>
          </p:cNvPr>
          <p:cNvSpPr/>
          <p:nvPr/>
        </p:nvSpPr>
        <p:spPr bwMode="auto">
          <a:xfrm rot="5400000">
            <a:off x="3211488" y="1853798"/>
            <a:ext cx="1080120" cy="488776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4CF28-8BCB-11D5-6CCE-A57FAAA24550}"/>
              </a:ext>
            </a:extLst>
          </p:cNvPr>
          <p:cNvSpPr txBox="1"/>
          <p:nvPr/>
        </p:nvSpPr>
        <p:spPr>
          <a:xfrm>
            <a:off x="4114800" y="1802041"/>
            <a:ext cx="422487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Campus-level </a:t>
            </a:r>
            <a:r>
              <a:rPr lang="en-US" sz="1600" b="1">
                <a:solidFill>
                  <a:schemeClr val="tx1"/>
                </a:solidFill>
              </a:rPr>
              <a:t>ecological efficiency</a:t>
            </a:r>
          </a:p>
          <a:p>
            <a:pPr algn="ctr"/>
            <a:r>
              <a:rPr lang="en-US" sz="1600" i="1">
                <a:solidFill>
                  <a:srgbClr val="000000"/>
                </a:solidFill>
              </a:rPr>
              <a:t>Water, energy, waste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2B8141-AFBA-4387-60BE-450D4A502FCC}"/>
              </a:ext>
            </a:extLst>
          </p:cNvPr>
          <p:cNvSpPr/>
          <p:nvPr/>
        </p:nvSpPr>
        <p:spPr bwMode="auto">
          <a:xfrm>
            <a:off x="734484" y="2891246"/>
            <a:ext cx="2895600" cy="108012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8A3BF2-BD88-30E4-5548-7D4B7F13D497}"/>
              </a:ext>
            </a:extLst>
          </p:cNvPr>
          <p:cNvSpPr/>
          <p:nvPr/>
        </p:nvSpPr>
        <p:spPr bwMode="auto">
          <a:xfrm>
            <a:off x="3630084" y="2888940"/>
            <a:ext cx="4832514" cy="108012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D2A945-4148-1097-2F4D-605DF295B0B0}"/>
              </a:ext>
            </a:extLst>
          </p:cNvPr>
          <p:cNvSpPr/>
          <p:nvPr/>
        </p:nvSpPr>
        <p:spPr bwMode="auto">
          <a:xfrm>
            <a:off x="1886612" y="2888940"/>
            <a:ext cx="1728192" cy="108012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IMPACT RANKINGS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75BC00-A541-3762-3BF9-A7A3F7E25212}"/>
              </a:ext>
            </a:extLst>
          </p:cNvPr>
          <p:cNvSpPr/>
          <p:nvPr/>
        </p:nvSpPr>
        <p:spPr bwMode="auto">
          <a:xfrm>
            <a:off x="960682" y="2996952"/>
            <a:ext cx="864096" cy="86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>
                <a:solidFill>
                  <a:schemeClr val="tx1"/>
                </a:solidFill>
              </a:rPr>
              <a:t>2</a:t>
            </a: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C12F7C7A-8620-D3E8-9097-E4A17326F71C}"/>
              </a:ext>
            </a:extLst>
          </p:cNvPr>
          <p:cNvSpPr/>
          <p:nvPr/>
        </p:nvSpPr>
        <p:spPr bwMode="auto">
          <a:xfrm rot="5400000">
            <a:off x="3334412" y="3184612"/>
            <a:ext cx="1080120" cy="488776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A3E17C-CB52-6A01-47E4-A46C0C043DE5}"/>
              </a:ext>
            </a:extLst>
          </p:cNvPr>
          <p:cNvSpPr txBox="1"/>
          <p:nvPr/>
        </p:nvSpPr>
        <p:spPr>
          <a:xfrm>
            <a:off x="4237724" y="3009744"/>
            <a:ext cx="422487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Social, economic, and environmental impact metrics based on 17 UN </a:t>
            </a:r>
            <a:r>
              <a:rPr lang="en-US" sz="1600" b="1">
                <a:solidFill>
                  <a:schemeClr val="tx1"/>
                </a:solidFill>
              </a:rPr>
              <a:t>Sustainability Development Goals (SDGs)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D34E4F-0F33-7E91-A7D3-1322F906EBD0}"/>
              </a:ext>
            </a:extLst>
          </p:cNvPr>
          <p:cNvSpPr/>
          <p:nvPr/>
        </p:nvSpPr>
        <p:spPr bwMode="auto">
          <a:xfrm>
            <a:off x="857408" y="4222060"/>
            <a:ext cx="2895600" cy="1080120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2A389-941C-C9E2-52B7-489986B1FA3E}"/>
              </a:ext>
            </a:extLst>
          </p:cNvPr>
          <p:cNvSpPr/>
          <p:nvPr/>
        </p:nvSpPr>
        <p:spPr bwMode="auto">
          <a:xfrm>
            <a:off x="1880787" y="4224366"/>
            <a:ext cx="1875923" cy="108012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SAPIENTA OBSERVATORY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550C95-4243-9F5D-82CF-FCC6F5B49360}"/>
              </a:ext>
            </a:extLst>
          </p:cNvPr>
          <p:cNvSpPr/>
          <p:nvPr/>
        </p:nvSpPr>
        <p:spPr bwMode="auto">
          <a:xfrm>
            <a:off x="1083606" y="4327766"/>
            <a:ext cx="864096" cy="86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b="1">
                <a:solidFill>
                  <a:schemeClr val="tx1"/>
                </a:solidFill>
              </a:rPr>
              <a:t>3</a:t>
            </a: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B01AF0E3-3C7C-26BC-3A81-49A0F1DB9491}"/>
              </a:ext>
            </a:extLst>
          </p:cNvPr>
          <p:cNvSpPr/>
          <p:nvPr/>
        </p:nvSpPr>
        <p:spPr bwMode="auto">
          <a:xfrm rot="5400000">
            <a:off x="3457338" y="4522636"/>
            <a:ext cx="1094543" cy="474353"/>
          </a:xfrm>
          <a:prstGeom prst="triangl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6FB18-6756-BFBF-60D3-B19E8475AA10}"/>
              </a:ext>
            </a:extLst>
          </p:cNvPr>
          <p:cNvSpPr txBox="1"/>
          <p:nvPr/>
        </p:nvSpPr>
        <p:spPr>
          <a:xfrm>
            <a:off x="4360648" y="4340558"/>
            <a:ext cx="422487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Quantitative metrics on Italian HEIs' financial, personnel, and operational </a:t>
            </a:r>
            <a:r>
              <a:rPr lang="en-US" sz="1600" b="1">
                <a:solidFill>
                  <a:schemeClr val="tx1"/>
                </a:solidFill>
              </a:rPr>
              <a:t>efficiency</a:t>
            </a:r>
            <a:r>
              <a:rPr lang="en-US" sz="160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09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8A6F-D399-704A-5D3F-D1B86DC8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E05CC2B9-5A47-D1FD-B36B-D958B9EE99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6F5157C9-0D33-A742-BEB2-11FBDC43414C}" type="datetime1">
              <a:rPr lang="en-GB" noProof="1" smtClean="0"/>
              <a:t>03/06/2026</a:t>
            </a:fld>
            <a:endParaRPr lang="en-GB" noProof="1"/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A5E1764C-3EDB-92B2-EDE1-FF3E9F98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noProof="1"/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5EF62358-E2DC-84F9-5E5B-E29FAC03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noProof="1"/>
              <a:t>Pagina </a:t>
            </a:r>
            <a:fld id="{74134811-EEA5-F540-930C-E3C76981342C}" type="slidenum">
              <a:rPr lang="en-GB" noProof="1"/>
              <a:pPr/>
              <a:t>5</a:t>
            </a:fld>
            <a:endParaRPr lang="en-GB" noProof="1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BEF73F06-F403-386A-A635-4E09E0E57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/>
              <a:t>Ontological Model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CA03551C-DB38-F530-D476-002C90FC1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E193D329-5BB0-D0F7-9D72-7FF7B705E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The ontology acts as an integration layer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4FFA58-99A5-F4E2-A876-03C7EAC17707}"/>
              </a:ext>
            </a:extLst>
          </p:cNvPr>
          <p:cNvGrpSpPr/>
          <p:nvPr/>
        </p:nvGrpSpPr>
        <p:grpSpPr>
          <a:xfrm>
            <a:off x="683568" y="1587124"/>
            <a:ext cx="8176382" cy="3407259"/>
            <a:chOff x="200875" y="1586546"/>
            <a:chExt cx="8659076" cy="360840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ED19518-646E-936A-259C-97079ADD3997}"/>
                </a:ext>
              </a:extLst>
            </p:cNvPr>
            <p:cNvGrpSpPr/>
            <p:nvPr/>
          </p:nvGrpSpPr>
          <p:grpSpPr>
            <a:xfrm>
              <a:off x="284048" y="1971160"/>
              <a:ext cx="8575903" cy="2832492"/>
              <a:chOff x="291166" y="2377383"/>
              <a:chExt cx="8575903" cy="283249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2D6159-9603-96FB-6AFA-CD65DF4F4679}"/>
                  </a:ext>
                </a:extLst>
              </p:cNvPr>
              <p:cNvSpPr/>
              <p:nvPr/>
            </p:nvSpPr>
            <p:spPr bwMode="auto">
              <a:xfrm>
                <a:off x="6406725" y="4033198"/>
                <a:ext cx="2460344" cy="1176677"/>
              </a:xfrm>
              <a:prstGeom prst="rect">
                <a:avLst/>
              </a:prstGeom>
              <a:solidFill>
                <a:srgbClr val="822433">
                  <a:alpha val="12157"/>
                </a:srgb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b="0" i="0" u="none" strike="noStrike" cap="none" normalizeH="0" baseline="0">
                  <a:ln w="76200"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AD20A39-11A8-99A2-DD6F-DF2ED704AD7B}"/>
                  </a:ext>
                </a:extLst>
              </p:cNvPr>
              <p:cNvSpPr/>
              <p:nvPr/>
            </p:nvSpPr>
            <p:spPr bwMode="auto">
              <a:xfrm>
                <a:off x="5940152" y="2796058"/>
                <a:ext cx="2460344" cy="1176677"/>
              </a:xfrm>
              <a:prstGeom prst="rect">
                <a:avLst/>
              </a:prstGeom>
              <a:solidFill>
                <a:srgbClr val="822433">
                  <a:alpha val="12157"/>
                </a:srgb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b="0" i="0" u="none" strike="noStrike" cap="none" normalizeH="0" baseline="0">
                  <a:ln w="76200"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EEB217C-26A9-8254-DDE4-9591C13B02B0}"/>
                  </a:ext>
                </a:extLst>
              </p:cNvPr>
              <p:cNvSpPr/>
              <p:nvPr/>
            </p:nvSpPr>
            <p:spPr bwMode="auto">
              <a:xfrm>
                <a:off x="291166" y="2377383"/>
                <a:ext cx="2595297" cy="2669152"/>
              </a:xfrm>
              <a:prstGeom prst="rect">
                <a:avLst/>
              </a:prstGeom>
              <a:solidFill>
                <a:srgbClr val="822433">
                  <a:alpha val="12157"/>
                </a:srgb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b="0" i="0" u="none" strike="noStrike" cap="none" normalizeH="0" baseline="0">
                  <a:ln w="76200"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0E50458-24AD-B3D8-2F04-70D0A244E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2527" y="2616145"/>
                <a:ext cx="8474542" cy="2399309"/>
              </a:xfrm>
              <a:prstGeom prst="rect">
                <a:avLst/>
              </a:prstGeom>
            </p:spPr>
          </p:pic>
        </p:grp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67C42989-5228-7BC3-BB71-5C8750B4D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8109" y="2014271"/>
              <a:ext cx="2519883" cy="39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140000"/>
                </a:lnSpc>
                <a:buFontTx/>
                <a:buNone/>
              </a:pPr>
              <a:r>
                <a:rPr lang="en-GB" sz="1400" noProof="1">
                  <a:solidFill>
                    <a:schemeClr val="tx1"/>
                  </a:solidFill>
                </a:rPr>
                <a:t>Sustainability Metrics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5DC92A70-338C-2333-E803-6707B71E33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75" y="1586546"/>
              <a:ext cx="2519883" cy="39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140000"/>
                </a:lnSpc>
                <a:buFontTx/>
                <a:buNone/>
              </a:pPr>
              <a:r>
                <a:rPr lang="en-GB" sz="1400" noProof="1">
                  <a:solidFill>
                    <a:schemeClr val="tx1"/>
                  </a:solidFill>
                </a:rPr>
                <a:t>Efficiency Metrics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A4985038-8462-336C-6B73-272CFEB8E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0663" y="4803652"/>
              <a:ext cx="2519883" cy="39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1" hangingPunct="1">
                <a:lnSpc>
                  <a:spcPct val="140000"/>
                </a:lnSpc>
                <a:buFontTx/>
                <a:buNone/>
              </a:pPr>
              <a:r>
                <a:rPr lang="en-GB" sz="1400" noProof="1">
                  <a:solidFill>
                    <a:schemeClr val="tx1"/>
                  </a:solidFill>
                </a:rPr>
                <a:t>NLP Evidence</a:t>
              </a: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FC5EF208-0E5B-8DFC-E818-B1ED98DB93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6177" y="5177967"/>
            <a:ext cx="7848271" cy="939484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GB" sz="1400" noProof="1"/>
              <a:t>As we progress downwards our focus switches from </a:t>
            </a:r>
            <a:r>
              <a:rPr lang="en-GB" sz="1400" b="1" noProof="1">
                <a:solidFill>
                  <a:schemeClr val="tx1"/>
                </a:solidFill>
              </a:rPr>
              <a:t>quantitative</a:t>
            </a:r>
            <a:r>
              <a:rPr lang="en-GB" sz="1400" noProof="1"/>
              <a:t> to </a:t>
            </a:r>
            <a:r>
              <a:rPr lang="en-GB" sz="1400" b="1" noProof="1">
                <a:solidFill>
                  <a:schemeClr val="tx1"/>
                </a:solidFill>
              </a:rPr>
              <a:t>qualitative</a:t>
            </a:r>
            <a:r>
              <a:rPr lang="en-GB" sz="1400" noProof="1"/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63188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9216-AED7-B7F0-A27D-35DA20F3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D6A006-B371-8729-6A41-EAEC13C3D75D}"/>
              </a:ext>
            </a:extLst>
          </p:cNvPr>
          <p:cNvSpPr/>
          <p:nvPr/>
        </p:nvSpPr>
        <p:spPr bwMode="auto">
          <a:xfrm>
            <a:off x="348933" y="1244264"/>
            <a:ext cx="2858270" cy="2372515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sng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Cross-Correlations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21BAC-DE1F-3949-D1B7-174051BF68A5}"/>
              </a:ext>
            </a:extLst>
          </p:cNvPr>
          <p:cNvSpPr/>
          <p:nvPr/>
        </p:nvSpPr>
        <p:spPr bwMode="auto">
          <a:xfrm>
            <a:off x="3410400" y="1251556"/>
            <a:ext cx="2654227" cy="2372514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sng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Sustainability Scores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69087-E472-994D-41F6-BE319E573F75}"/>
              </a:ext>
            </a:extLst>
          </p:cNvPr>
          <p:cNvSpPr/>
          <p:nvPr/>
        </p:nvSpPr>
        <p:spPr bwMode="auto">
          <a:xfrm>
            <a:off x="6176152" y="1258849"/>
            <a:ext cx="2819081" cy="2363996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sng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Potential Drivers</a:t>
            </a:r>
          </a:p>
        </p:txBody>
      </p:sp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7BED84A4-5BB0-0717-E585-A5F75E010A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BFD1AA-54FC-2C47-B0B9-3F006997F891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58D3FAAF-CCA9-CA59-92AF-D790DED4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1DA2C4FA-F3FB-E329-2605-3509B43C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74134811-EEA5-F540-930C-E3C76981342C}" type="slidenum">
              <a:rPr lang="en-GB" sz="1100" noProof="1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9F7A5314-237E-C0DD-A64C-59F38998F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Quantitative Methodology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EC1AAFC1-6456-E8C6-264B-626416013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6E9FC-17EF-DEBC-5ADA-5EDE4B582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032" y="1614968"/>
            <a:ext cx="2361952" cy="1901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586980-6E4A-EBED-BF95-8F3DE5E24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98" y="1614971"/>
            <a:ext cx="2667754" cy="1894908"/>
          </a:xfrm>
          <a:prstGeom prst="rect">
            <a:avLst/>
          </a:prstGeom>
        </p:spPr>
      </p:pic>
      <p:sp>
        <p:nvSpPr>
          <p:cNvPr id="9" name="Text Box 10">
            <a:extLst>
              <a:ext uri="{FF2B5EF4-FFF2-40B4-BE49-F238E27FC236}">
                <a16:creationId xmlns:a16="http://schemas.microsoft.com/office/drawing/2014/main" id="{D4729036-4CAC-FDEA-21FC-A41E0FF43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We chose to focus on a simple correlation analyis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D0003-E9E7-D721-21F5-D932DA176652}"/>
              </a:ext>
            </a:extLst>
          </p:cNvPr>
          <p:cNvSpPr txBox="1"/>
          <p:nvPr/>
        </p:nvSpPr>
        <p:spPr>
          <a:xfrm>
            <a:off x="9001957" y="3506363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256A5268-64B1-40B2-26D8-732BBC5678D0}"/>
              </a:ext>
            </a:extLst>
          </p:cNvPr>
          <p:cNvSpPr txBox="1">
            <a:spLocks/>
          </p:cNvSpPr>
          <p:nvPr/>
        </p:nvSpPr>
        <p:spPr bwMode="auto">
          <a:xfrm>
            <a:off x="148768" y="3739255"/>
            <a:ext cx="3184701" cy="1019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/>
              <a:t>Correlated </a:t>
            </a:r>
            <a:r>
              <a:rPr lang="en-GB" sz="1200" err="1"/>
              <a:t>Sapientia</a:t>
            </a:r>
            <a:r>
              <a:rPr lang="en-GB" sz="1200"/>
              <a:t> </a:t>
            </a:r>
            <a:r>
              <a:rPr lang="en-GB" sz="1200" b="1">
                <a:solidFill>
                  <a:schemeClr val="tx1"/>
                </a:solidFill>
              </a:rPr>
              <a:t>efficiency </a:t>
            </a:r>
            <a:r>
              <a:rPr lang="en-GB" sz="1200"/>
              <a:t>metrics with THE Impact Rankings and UI </a:t>
            </a:r>
            <a:r>
              <a:rPr lang="en-GB" sz="1200" err="1"/>
              <a:t>GreenMetric</a:t>
            </a:r>
            <a:r>
              <a:rPr lang="en-GB" sz="1200"/>
              <a:t> </a:t>
            </a:r>
            <a:r>
              <a:rPr lang="en-GB" sz="1200" b="1">
                <a:solidFill>
                  <a:schemeClr val="tx1"/>
                </a:solidFill>
              </a:rPr>
              <a:t>sustainability</a:t>
            </a:r>
            <a:r>
              <a:rPr lang="en-GB" sz="1200"/>
              <a:t> measures</a:t>
            </a:r>
          </a:p>
          <a:p>
            <a:r>
              <a:rPr lang="en-GB" sz="1200"/>
              <a:t>Used </a:t>
            </a:r>
            <a:r>
              <a:rPr lang="en-GB" sz="1200" b="1">
                <a:solidFill>
                  <a:schemeClr val="tx1"/>
                </a:solidFill>
              </a:rPr>
              <a:t>Pearson cross-correlations </a:t>
            </a:r>
            <a:r>
              <a:rPr lang="en-GB" sz="1200"/>
              <a:t>to identify positive and negative relationships between efficiency and sustainability</a:t>
            </a:r>
          </a:p>
          <a:p>
            <a:r>
              <a:rPr lang="en-GB" sz="1200"/>
              <a:t>Chose a </a:t>
            </a:r>
            <a:r>
              <a:rPr lang="en-GB" sz="1200" b="1">
                <a:solidFill>
                  <a:schemeClr val="tx1"/>
                </a:solidFill>
              </a:rPr>
              <a:t>simple</a:t>
            </a:r>
            <a:r>
              <a:rPr lang="en-GB" sz="1200"/>
              <a:t> correlation approach to keep results </a:t>
            </a:r>
            <a:r>
              <a:rPr lang="en-GB" sz="1200" b="1">
                <a:solidFill>
                  <a:schemeClr val="tx1"/>
                </a:solidFill>
              </a:rPr>
              <a:t>transparent </a:t>
            </a:r>
            <a:r>
              <a:rPr lang="en-GB" sz="1200"/>
              <a:t>and </a:t>
            </a:r>
            <a:r>
              <a:rPr lang="en-GB" sz="1200" b="1">
                <a:solidFill>
                  <a:schemeClr val="tx1"/>
                </a:solidFill>
              </a:rPr>
              <a:t>interpretable</a:t>
            </a:r>
            <a:r>
              <a:rPr lang="en-GB" sz="1200"/>
              <a:t> for qualitative analysis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10BB9255-BD45-C408-D419-F9F1CE04A324}"/>
              </a:ext>
            </a:extLst>
          </p:cNvPr>
          <p:cNvSpPr txBox="1">
            <a:spLocks/>
          </p:cNvSpPr>
          <p:nvPr/>
        </p:nvSpPr>
        <p:spPr bwMode="auto">
          <a:xfrm>
            <a:off x="3333469" y="3737195"/>
            <a:ext cx="2937330" cy="85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/>
              <a:t>Combined sustainability metrics from both THE SDGs and UI </a:t>
            </a:r>
            <a:r>
              <a:rPr lang="en-GB" sz="1200" err="1"/>
              <a:t>GreenMetric</a:t>
            </a:r>
            <a:r>
              <a:rPr lang="en-GB" sz="1200"/>
              <a:t> rankings</a:t>
            </a:r>
          </a:p>
          <a:p>
            <a:r>
              <a:rPr lang="en-GB" sz="1200"/>
              <a:t>Calculated an overall sustainability score by </a:t>
            </a:r>
            <a:r>
              <a:rPr lang="en-GB" sz="1200" b="1">
                <a:solidFill>
                  <a:schemeClr val="tx1"/>
                </a:solidFill>
              </a:rPr>
              <a:t>averaging correlations </a:t>
            </a:r>
            <a:r>
              <a:rPr lang="en-GB" sz="1200"/>
              <a:t>across all sustainability dimensions</a:t>
            </a:r>
          </a:p>
          <a:p>
            <a:r>
              <a:rPr lang="en-GB" sz="1200"/>
              <a:t>Used the </a:t>
            </a:r>
            <a:r>
              <a:rPr lang="en-GB" sz="1200" b="1">
                <a:solidFill>
                  <a:schemeClr val="tx1"/>
                </a:solidFill>
              </a:rPr>
              <a:t>mean-to-standard deviation ratio </a:t>
            </a:r>
            <a:r>
              <a:rPr lang="en-GB" sz="1200"/>
              <a:t>(</a:t>
            </a:r>
            <a:r>
              <a:rPr lang="el-GR" sz="1200"/>
              <a:t>μ/σ) </a:t>
            </a:r>
            <a:r>
              <a:rPr lang="en-GB" sz="1200"/>
              <a:t>to prioritise drivers with </a:t>
            </a:r>
            <a:r>
              <a:rPr lang="en-GB" sz="1200" b="1">
                <a:solidFill>
                  <a:schemeClr val="tx1"/>
                </a:solidFill>
              </a:rPr>
              <a:t>strong</a:t>
            </a:r>
            <a:r>
              <a:rPr lang="en-GB" sz="1200"/>
              <a:t> and </a:t>
            </a:r>
            <a:r>
              <a:rPr lang="en-GB" sz="1200" b="1">
                <a:solidFill>
                  <a:schemeClr val="tx1"/>
                </a:solidFill>
              </a:rPr>
              <a:t>consistent </a:t>
            </a:r>
            <a:r>
              <a:rPr lang="en-GB" sz="1200"/>
              <a:t>sustainability relationships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36A733D0-39A4-64A9-EF9E-6A40D8B354F1}"/>
              </a:ext>
            </a:extLst>
          </p:cNvPr>
          <p:cNvSpPr txBox="1">
            <a:spLocks/>
          </p:cNvSpPr>
          <p:nvPr/>
        </p:nvSpPr>
        <p:spPr bwMode="auto">
          <a:xfrm>
            <a:off x="6176153" y="3718012"/>
            <a:ext cx="2819080" cy="85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/>
              <a:t>Identified the strongest </a:t>
            </a:r>
            <a:r>
              <a:rPr lang="en-GB" sz="1200" b="1">
                <a:solidFill>
                  <a:schemeClr val="tx1"/>
                </a:solidFill>
              </a:rPr>
              <a:t>positive</a:t>
            </a:r>
            <a:r>
              <a:rPr lang="en-GB" sz="1200"/>
              <a:t> and </a:t>
            </a:r>
            <a:r>
              <a:rPr lang="en-GB" sz="1200" b="1">
                <a:solidFill>
                  <a:schemeClr val="tx1"/>
                </a:solidFill>
              </a:rPr>
              <a:t>negative</a:t>
            </a:r>
            <a:r>
              <a:rPr lang="en-GB" sz="1200"/>
              <a:t> cross-drivers from the correlation results</a:t>
            </a:r>
          </a:p>
          <a:p>
            <a:r>
              <a:rPr lang="en-GB" sz="1200"/>
              <a:t>Drivers represent </a:t>
            </a:r>
            <a:r>
              <a:rPr lang="en-GB" sz="1200" b="1">
                <a:solidFill>
                  <a:schemeClr val="tx1"/>
                </a:solidFill>
              </a:rPr>
              <a:t>institutional efficiency metrics </a:t>
            </a:r>
            <a:r>
              <a:rPr lang="en-GB" sz="1200"/>
              <a:t>that may </a:t>
            </a:r>
            <a:r>
              <a:rPr lang="en-GB" sz="1200" b="1">
                <a:solidFill>
                  <a:schemeClr val="tx1"/>
                </a:solidFill>
              </a:rPr>
              <a:t>influence sustainability performance</a:t>
            </a:r>
          </a:p>
          <a:p>
            <a:r>
              <a:rPr lang="en-GB" sz="1200"/>
              <a:t>We will compare drivers across universities to explore how operational efficiency aligns with sustainability outcomes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6A87A9-B559-A989-D657-7660F33BD5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83" y="1618641"/>
            <a:ext cx="2704382" cy="189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575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35AC-78DA-CF5F-20B1-8169B199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39AEC533-33CE-C0AC-F9EF-3218C35CA4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1F6579-8BD4-D441-BB79-FA653A6EE6D1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5C61029F-332B-67CD-19ED-474DDF22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58795EFE-EC0B-87E6-4366-92998EA6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74134811-EEA5-F540-930C-E3C76981342C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45F658BC-E018-4B3D-5C11-959A4582D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/>
              <a:t>Web Scraper &amp; NLP Pipeline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4C22DD35-9EC9-2600-B9B2-50907DDC6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FCE79E81-1761-CF17-63F0-C00525A81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000"/>
              <a:t>Using automated reporting analysis to contextualise quantitative sustainability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6741D-794A-7AF8-B457-DDFFFC09A0E2}"/>
              </a:ext>
            </a:extLst>
          </p:cNvPr>
          <p:cNvSpPr txBox="1"/>
          <p:nvPr/>
        </p:nvSpPr>
        <p:spPr>
          <a:xfrm>
            <a:off x="532714" y="2165344"/>
            <a:ext cx="232228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University Base URLs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6391EB-B8C7-A0F3-962D-0BF234854A7C}"/>
              </a:ext>
            </a:extLst>
          </p:cNvPr>
          <p:cNvSpPr/>
          <p:nvPr/>
        </p:nvSpPr>
        <p:spPr bwMode="auto">
          <a:xfrm>
            <a:off x="521528" y="5072442"/>
            <a:ext cx="1530192" cy="1080120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tabLst/>
            </a:pPr>
            <a:endParaRPr kumimoji="0" lang="en-US" sz="140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15E9DE-9F8A-BD74-66B2-284785B3FF16}"/>
              </a:ext>
            </a:extLst>
          </p:cNvPr>
          <p:cNvSpPr/>
          <p:nvPr/>
        </p:nvSpPr>
        <p:spPr bwMode="auto">
          <a:xfrm>
            <a:off x="3287449" y="3796960"/>
            <a:ext cx="5245363" cy="1780065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Explore institutional sustainability </a:t>
            </a: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transparency</a:t>
            </a: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communication</a:t>
            </a: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Extract sustainability evidence from webpages and PDF reports</a:t>
            </a: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20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Address the </a:t>
            </a: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heterogeneity problem</a:t>
            </a: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across reporting formats and terminology</a:t>
            </a: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20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NLP and word-frequency analysis to identify institutional narratives</a:t>
            </a: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20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171450" marR="0" indent="-17145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Designed as an interpretive </a:t>
            </a: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diagnostic tool</a:t>
            </a:r>
            <a:r>
              <a:rPr kumimoji="0" lang="en-US" sz="12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- not a new ranking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0877D-0C0E-1F56-4CEC-A29490DF6137}"/>
              </a:ext>
            </a:extLst>
          </p:cNvPr>
          <p:cNvSpPr txBox="1"/>
          <p:nvPr/>
        </p:nvSpPr>
        <p:spPr>
          <a:xfrm>
            <a:off x="532714" y="2616701"/>
            <a:ext cx="232228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Manual Sustainability Root Pages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B434A-B0EA-38FF-1A21-4F307306A362}"/>
              </a:ext>
            </a:extLst>
          </p:cNvPr>
          <p:cNvSpPr txBox="1"/>
          <p:nvPr/>
        </p:nvSpPr>
        <p:spPr>
          <a:xfrm>
            <a:off x="522241" y="3317606"/>
            <a:ext cx="233275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Recursive Sustainability Crawl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E22D2-BC08-FBFF-EF64-066A70679249}"/>
              </a:ext>
            </a:extLst>
          </p:cNvPr>
          <p:cNvSpPr txBox="1"/>
          <p:nvPr/>
        </p:nvSpPr>
        <p:spPr>
          <a:xfrm>
            <a:off x="522241" y="4015184"/>
            <a:ext cx="233275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HTML and PDF Text 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9170C8-79C3-2469-D986-0B8236385253}"/>
              </a:ext>
            </a:extLst>
          </p:cNvPr>
          <p:cNvSpPr txBox="1"/>
          <p:nvPr/>
        </p:nvSpPr>
        <p:spPr>
          <a:xfrm>
            <a:off x="6099345" y="2106961"/>
            <a:ext cx="223224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SDG Detection and Thematic Analysis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4E5C8-66F8-09E2-A4A5-FDD773586742}"/>
              </a:ext>
            </a:extLst>
          </p:cNvPr>
          <p:cNvSpPr txBox="1"/>
          <p:nvPr/>
        </p:nvSpPr>
        <p:spPr>
          <a:xfrm>
            <a:off x="522241" y="4712762"/>
            <a:ext cx="233275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PDF Discovery and Extraction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39C2C-BB71-C9BE-BE29-5201BA67A3BE}"/>
              </a:ext>
            </a:extLst>
          </p:cNvPr>
          <p:cNvSpPr txBox="1"/>
          <p:nvPr/>
        </p:nvSpPr>
        <p:spPr>
          <a:xfrm>
            <a:off x="3492687" y="2082675"/>
            <a:ext cx="2159433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Filtering by Sustainability Keywords and Allowed URL Paths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847F8-220E-9F51-B549-3DE10FFFC326}"/>
              </a:ext>
            </a:extLst>
          </p:cNvPr>
          <p:cNvSpPr txBox="1"/>
          <p:nvPr/>
        </p:nvSpPr>
        <p:spPr>
          <a:xfrm>
            <a:off x="6107696" y="2840824"/>
            <a:ext cx="221554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CSV and JSON Outputs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F21AF-AEBD-DD1A-0AB9-8DE11181DB11}"/>
              </a:ext>
            </a:extLst>
          </p:cNvPr>
          <p:cNvSpPr/>
          <p:nvPr/>
        </p:nvSpPr>
        <p:spPr bwMode="auto">
          <a:xfrm>
            <a:off x="317004" y="1933196"/>
            <a:ext cx="2765921" cy="3576537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 w="76200"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CF2696-CE7A-3A32-4781-7F97EA83F3F0}"/>
              </a:ext>
            </a:extLst>
          </p:cNvPr>
          <p:cNvSpPr/>
          <p:nvPr/>
        </p:nvSpPr>
        <p:spPr bwMode="auto">
          <a:xfrm>
            <a:off x="3288163" y="1933196"/>
            <a:ext cx="2507974" cy="1388993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 w="76200"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2B86C9-7AF6-3AEC-FDF6-D7F0CFFA78B1}"/>
              </a:ext>
            </a:extLst>
          </p:cNvPr>
          <p:cNvSpPr/>
          <p:nvPr/>
        </p:nvSpPr>
        <p:spPr bwMode="auto">
          <a:xfrm>
            <a:off x="5961482" y="1933196"/>
            <a:ext cx="2507974" cy="1677325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 w="76200"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5AFC183E-EF71-C625-743F-1EEE55AC8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579" y="1586860"/>
            <a:ext cx="2379414" cy="36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lnSpc>
                <a:spcPct val="140000"/>
              </a:lnSpc>
              <a:buFontTx/>
              <a:buNone/>
            </a:pPr>
            <a:r>
              <a:rPr lang="en-GB" sz="1400" noProof="1">
                <a:solidFill>
                  <a:schemeClr val="tx1"/>
                </a:solidFill>
              </a:rPr>
              <a:t>Webscraping Tool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38452FF-CA74-24D2-9962-65243DD81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136" y="1575551"/>
            <a:ext cx="2379414" cy="36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lnSpc>
                <a:spcPct val="140000"/>
              </a:lnSpc>
              <a:buFontTx/>
              <a:buNone/>
            </a:pPr>
            <a:r>
              <a:rPr lang="en-GB" sz="1400" noProof="1">
                <a:solidFill>
                  <a:schemeClr val="tx1"/>
                </a:solidFill>
              </a:rPr>
              <a:t>NL Tool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F4B4BB33-71AC-E5EA-E867-D94EFA4DE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762" y="1575551"/>
            <a:ext cx="2379414" cy="36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lnSpc>
                <a:spcPct val="140000"/>
              </a:lnSpc>
              <a:buFontTx/>
              <a:buNone/>
            </a:pPr>
            <a:r>
              <a:rPr lang="en-GB" sz="1400" noProof="1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FE8FEC-3039-B073-270E-AC68D994FA59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 bwMode="auto">
          <a:xfrm>
            <a:off x="1693854" y="2503898"/>
            <a:ext cx="0" cy="112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4003F7-63D6-BDF7-68C4-A0B59E39224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 bwMode="auto">
          <a:xfrm flipH="1">
            <a:off x="1688618" y="3201476"/>
            <a:ext cx="5236" cy="116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0B3130-0D53-C219-6418-8656CCBC72C1}"/>
              </a:ext>
            </a:extLst>
          </p:cNvPr>
          <p:cNvCxnSpPr>
            <a:cxnSpLocks/>
          </p:cNvCxnSpPr>
          <p:nvPr/>
        </p:nvCxnSpPr>
        <p:spPr bwMode="auto">
          <a:xfrm flipH="1">
            <a:off x="1683382" y="3899054"/>
            <a:ext cx="5236" cy="116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7EE690-AC90-D8E1-A0DE-ABE891A5F300}"/>
              </a:ext>
            </a:extLst>
          </p:cNvPr>
          <p:cNvCxnSpPr>
            <a:cxnSpLocks/>
          </p:cNvCxnSpPr>
          <p:nvPr/>
        </p:nvCxnSpPr>
        <p:spPr bwMode="auto">
          <a:xfrm flipH="1">
            <a:off x="1678146" y="4596632"/>
            <a:ext cx="5236" cy="116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F6E486E-AD90-9EE1-1CFA-96800C57F90B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>
            <a:off x="3082925" y="2627693"/>
            <a:ext cx="20523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B9D6D93-3562-57C5-15A3-D086460B50C3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5796137" y="2627693"/>
            <a:ext cx="16534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7B34527-0E04-6857-622E-8EC44BD6E073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 bwMode="auto">
          <a:xfrm>
            <a:off x="7215469" y="2691736"/>
            <a:ext cx="0" cy="1490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66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716AA-3B32-A0F3-D815-CC2D068A1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egnaposto data 3">
            <a:extLst>
              <a:ext uri="{FF2B5EF4-FFF2-40B4-BE49-F238E27FC236}">
                <a16:creationId xmlns:a16="http://schemas.microsoft.com/office/drawing/2014/main" id="{16C1C1D9-AD0C-0B07-44BA-7F89A1E4EB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EBCAE6-FA72-0A4C-9224-A1EB56486E22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5" name="Segnaposto piè di pagina 4">
            <a:extLst>
              <a:ext uri="{FF2B5EF4-FFF2-40B4-BE49-F238E27FC236}">
                <a16:creationId xmlns:a16="http://schemas.microsoft.com/office/drawing/2014/main" id="{D012C19A-AAFC-0E18-0903-9C7C6DB62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8196" name="Segnaposto numero diapositiva 5">
            <a:extLst>
              <a:ext uri="{FF2B5EF4-FFF2-40B4-BE49-F238E27FC236}">
                <a16:creationId xmlns:a16="http://schemas.microsoft.com/office/drawing/2014/main" id="{DC3FBF13-6C98-7E6A-7A9A-B86C9933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5F33F367-DA9F-A94C-9DA8-0280AA7DB84E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E7C7ECF4-BE04-AD80-636B-FFA4FB025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pPr eaLnBrk="1" hangingPunct="1"/>
            <a:r>
              <a:rPr lang="en-GB"/>
              <a:t>Strongest Potential Positive Drivers</a:t>
            </a:r>
            <a:endParaRPr lang="en-GB" noProof="1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32F52A2-F89D-C291-9CEF-6D833D41D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332705"/>
            <a:ext cx="6544811" cy="3089310"/>
          </a:xfrm>
          <a:prstGeom prst="rect">
            <a:avLst/>
          </a:prstGeom>
        </p:spPr>
      </p:pic>
      <p:sp>
        <p:nvSpPr>
          <p:cNvPr id="8199" name="Text Box 6">
            <a:extLst>
              <a:ext uri="{FF2B5EF4-FFF2-40B4-BE49-F238E27FC236}">
                <a16:creationId xmlns:a16="http://schemas.microsoft.com/office/drawing/2014/main" id="{7412BAE2-8E5F-F788-1B73-6F02FD6BA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All the top positive drivers show positive coefficients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B4FBF-F620-0B21-B5B8-4EDBC10CB1CD}"/>
              </a:ext>
            </a:extLst>
          </p:cNvPr>
          <p:cNvSpPr txBox="1"/>
          <p:nvPr/>
        </p:nvSpPr>
        <p:spPr>
          <a:xfrm>
            <a:off x="550585" y="1731087"/>
            <a:ext cx="1850936" cy="93871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</a:rPr>
              <a:t>The most significant potential driver is the prevalence of </a:t>
            </a:r>
            <a:r>
              <a:rPr lang="en-US" sz="1100" b="1">
                <a:solidFill>
                  <a:schemeClr val="tx1"/>
                </a:solidFill>
              </a:rPr>
              <a:t>postgraduate first-level master's degrees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790F35-3D15-DE96-D088-533B9D8714CC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7744" y="2059053"/>
            <a:ext cx="300429" cy="1413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5050650-3939-A6CC-EB15-719840F2340F}"/>
              </a:ext>
            </a:extLst>
          </p:cNvPr>
          <p:cNvSpPr txBox="1"/>
          <p:nvPr/>
        </p:nvSpPr>
        <p:spPr>
          <a:xfrm>
            <a:off x="550585" y="2943003"/>
            <a:ext cx="2293223" cy="6001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</a:rPr>
              <a:t>…followed closely by </a:t>
            </a:r>
            <a:r>
              <a:rPr lang="en-US" sz="1100" b="1">
                <a:solidFill>
                  <a:schemeClr val="tx1"/>
                </a:solidFill>
              </a:rPr>
              <a:t>economic and financial </a:t>
            </a:r>
            <a:r>
              <a:rPr lang="en-US" sz="1100" b="1" err="1">
                <a:solidFill>
                  <a:schemeClr val="tx1"/>
                </a:solidFill>
              </a:rPr>
              <a:t>equalisation</a:t>
            </a:r>
            <a:r>
              <a:rPr lang="en-US" sz="1100" b="1">
                <a:solidFill>
                  <a:schemeClr val="tx1"/>
                </a:solidFill>
              </a:rPr>
              <a:t> interventions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6261F7-6A63-4F49-D3F8-0CA25D4F775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7744" y="2583895"/>
            <a:ext cx="399256" cy="388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6E88E0D-1FCB-B332-04B0-AB49DA3BADFD}"/>
              </a:ext>
            </a:extLst>
          </p:cNvPr>
          <p:cNvSpPr/>
          <p:nvPr/>
        </p:nvSpPr>
        <p:spPr bwMode="auto">
          <a:xfrm>
            <a:off x="441015" y="4404902"/>
            <a:ext cx="8261970" cy="1299952"/>
          </a:xfrm>
          <a:prstGeom prst="rect">
            <a:avLst/>
          </a:prstGeom>
          <a:solidFill>
            <a:schemeClr val="tx1">
              <a:alpha val="29804"/>
            </a:schemeClr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4" name="Graphic 43" descr="Questions with solid fill">
            <a:extLst>
              <a:ext uri="{FF2B5EF4-FFF2-40B4-BE49-F238E27FC236}">
                <a16:creationId xmlns:a16="http://schemas.microsoft.com/office/drawing/2014/main" id="{B660538B-A731-178C-474A-CCA99A748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971" y="4422015"/>
            <a:ext cx="1282839" cy="1282839"/>
          </a:xfrm>
          <a:prstGeom prst="rect">
            <a:avLst/>
          </a:prstGeom>
        </p:spPr>
      </p:pic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A8151384-53A6-81E0-6CC6-EAB760B7B38D}"/>
              </a:ext>
            </a:extLst>
          </p:cNvPr>
          <p:cNvSpPr txBox="1">
            <a:spLocks/>
          </p:cNvSpPr>
          <p:nvPr/>
        </p:nvSpPr>
        <p:spPr bwMode="auto">
          <a:xfrm>
            <a:off x="1766412" y="4603811"/>
            <a:ext cx="7200375" cy="128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i="1"/>
              <a:t>Do high-performance cross-drivers imply an inherent correlation between sustainability and technical efficiency in higher education institutions (HEIs)?</a:t>
            </a:r>
          </a:p>
        </p:txBody>
      </p:sp>
    </p:spTree>
    <p:extLst>
      <p:ext uri="{BB962C8B-B14F-4D97-AF65-F5344CB8AC3E}">
        <p14:creationId xmlns:p14="http://schemas.microsoft.com/office/powerpoint/2010/main" val="14153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B98F-2335-FDB7-210B-94215801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A98A10DA-D81A-F28B-F7E6-41E23B7C7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06230"/>
            <a:ext cx="6438563" cy="3309062"/>
          </a:xfrm>
          <a:prstGeom prst="rect">
            <a:avLst/>
          </a:prstGeom>
        </p:spPr>
      </p:pic>
      <p:sp>
        <p:nvSpPr>
          <p:cNvPr id="8194" name="Segnaposto data 3">
            <a:extLst>
              <a:ext uri="{FF2B5EF4-FFF2-40B4-BE49-F238E27FC236}">
                <a16:creationId xmlns:a16="http://schemas.microsoft.com/office/drawing/2014/main" id="{60B34BC8-3705-74C6-D930-2D83690285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1C7951-4A83-1247-9A03-C3DF41C5809E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5" name="Segnaposto piè di pagina 4">
            <a:extLst>
              <a:ext uri="{FF2B5EF4-FFF2-40B4-BE49-F238E27FC236}">
                <a16:creationId xmlns:a16="http://schemas.microsoft.com/office/drawing/2014/main" id="{33E97A30-5406-E09C-3B3B-90168005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8196" name="Segnaposto numero diapositiva 5">
            <a:extLst>
              <a:ext uri="{FF2B5EF4-FFF2-40B4-BE49-F238E27FC236}">
                <a16:creationId xmlns:a16="http://schemas.microsoft.com/office/drawing/2014/main" id="{EF6F981E-ED51-8E15-9DE9-1AD2FA19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5F33F367-DA9F-A94C-9DA8-0280AA7DB84E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AD9DF2A1-F8B4-48B5-3572-515161565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pPr eaLnBrk="1" hangingPunct="1"/>
            <a:r>
              <a:rPr lang="en-GB"/>
              <a:t>Strongest Potential Negative Drivers</a:t>
            </a:r>
            <a:endParaRPr lang="en-GB" noProof="1"/>
          </a:p>
        </p:txBody>
      </p:sp>
      <p:sp>
        <p:nvSpPr>
          <p:cNvPr id="8199" name="Text Box 6">
            <a:extLst>
              <a:ext uri="{FF2B5EF4-FFF2-40B4-BE49-F238E27FC236}">
                <a16:creationId xmlns:a16="http://schemas.microsoft.com/office/drawing/2014/main" id="{1A931F01-5B6B-F11B-1E17-2735A8A97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Negative drivers showed higher variability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87415-528B-71A9-EF20-9963C952B3B7}"/>
              </a:ext>
            </a:extLst>
          </p:cNvPr>
          <p:cNvSpPr txBox="1"/>
          <p:nvPr/>
        </p:nvSpPr>
        <p:spPr>
          <a:xfrm>
            <a:off x="7020272" y="1295368"/>
            <a:ext cx="1826151" cy="144655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</a:rPr>
              <a:t>The number of articles published in Nature and Science has the strongest sustainability score by some distance in comparison to the 2</a:t>
            </a:r>
            <a:r>
              <a:rPr lang="en-US" sz="1100" baseline="30000">
                <a:solidFill>
                  <a:schemeClr val="tx1"/>
                </a:solidFill>
              </a:rPr>
              <a:t>nd</a:t>
            </a:r>
            <a:r>
              <a:rPr lang="en-US" sz="1100">
                <a:solidFill>
                  <a:schemeClr val="tx1"/>
                </a:solidFill>
              </a:rPr>
              <a:t> strongest, the average age of PhD graduates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B43411-9E70-814C-38A9-BAA3AE810269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6804248" y="2018643"/>
            <a:ext cx="216024" cy="18622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362422D-FB21-46EB-2F8C-3222CEC97F9D}"/>
              </a:ext>
            </a:extLst>
          </p:cNvPr>
          <p:cNvSpPr/>
          <p:nvPr/>
        </p:nvSpPr>
        <p:spPr bwMode="auto">
          <a:xfrm>
            <a:off x="441015" y="4795207"/>
            <a:ext cx="8261970" cy="938720"/>
          </a:xfrm>
          <a:prstGeom prst="rect">
            <a:avLst/>
          </a:prstGeom>
          <a:solidFill>
            <a:schemeClr val="tx1">
              <a:alpha val="29804"/>
            </a:schemeClr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44" name="Graphic 43" descr="Questions with solid fill">
            <a:extLst>
              <a:ext uri="{FF2B5EF4-FFF2-40B4-BE49-F238E27FC236}">
                <a16:creationId xmlns:a16="http://schemas.microsoft.com/office/drawing/2014/main" id="{505935E6-556F-34B6-41D4-33CCE8604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011" y="4795207"/>
            <a:ext cx="938720" cy="938720"/>
          </a:xfrm>
          <a:prstGeom prst="rect">
            <a:avLst/>
          </a:prstGeom>
        </p:spPr>
      </p:pic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0F0AFA82-05E4-BE52-362A-37CDDF6E8E76}"/>
              </a:ext>
            </a:extLst>
          </p:cNvPr>
          <p:cNvSpPr txBox="1">
            <a:spLocks/>
          </p:cNvSpPr>
          <p:nvPr/>
        </p:nvSpPr>
        <p:spPr bwMode="auto">
          <a:xfrm>
            <a:off x="1363369" y="4914347"/>
            <a:ext cx="7331666" cy="89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i="1"/>
              <a:t>Could this suggest a trade-off between traditional research prestige and broader sustainability alignment within universities?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7A4B0AA-B72C-8D84-65D7-3F6A8D303159}"/>
              </a:ext>
            </a:extLst>
          </p:cNvPr>
          <p:cNvSpPr/>
          <p:nvPr/>
        </p:nvSpPr>
        <p:spPr bwMode="auto">
          <a:xfrm>
            <a:off x="6582877" y="1716291"/>
            <a:ext cx="149363" cy="1087065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58654-C752-3E1B-1614-E34BB3150980}"/>
              </a:ext>
            </a:extLst>
          </p:cNvPr>
          <p:cNvCxnSpPr>
            <a:cxnSpLocks/>
          </p:cNvCxnSpPr>
          <p:nvPr/>
        </p:nvCxnSpPr>
        <p:spPr bwMode="auto">
          <a:xfrm>
            <a:off x="6662713" y="2902055"/>
            <a:ext cx="0" cy="139104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211FC7-BB74-D608-CF5A-622552EDCDA0}"/>
              </a:ext>
            </a:extLst>
          </p:cNvPr>
          <p:cNvCxnSpPr>
            <a:cxnSpLocks/>
            <a:stCxn id="20" idx="1"/>
          </p:cNvCxnSpPr>
          <p:nvPr/>
        </p:nvCxnSpPr>
        <p:spPr bwMode="auto">
          <a:xfrm flipH="1">
            <a:off x="6732240" y="3583590"/>
            <a:ext cx="504056" cy="135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15F863-9617-63B2-FE91-816349F4AB8F}"/>
              </a:ext>
            </a:extLst>
          </p:cNvPr>
          <p:cNvSpPr txBox="1"/>
          <p:nvPr/>
        </p:nvSpPr>
        <p:spPr>
          <a:xfrm>
            <a:off x="7236296" y="3114230"/>
            <a:ext cx="1610127" cy="93871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</a:rPr>
              <a:t>The sustainability scores begin to plateau, flattening beyond the 5</a:t>
            </a:r>
            <a:r>
              <a:rPr lang="en-US" sz="1100" baseline="30000">
                <a:solidFill>
                  <a:schemeClr val="tx1"/>
                </a:solidFill>
              </a:rPr>
              <a:t>th</a:t>
            </a:r>
            <a:r>
              <a:rPr lang="en-US" sz="1100">
                <a:solidFill>
                  <a:schemeClr val="tx1"/>
                </a:solidFill>
              </a:rPr>
              <a:t> strongest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3EE12F-4271-38E2-FB59-E46B5A15979E}"/>
              </a:ext>
            </a:extLst>
          </p:cNvPr>
          <p:cNvCxnSpPr>
            <a:cxnSpLocks/>
          </p:cNvCxnSpPr>
          <p:nvPr/>
        </p:nvCxnSpPr>
        <p:spPr bwMode="auto">
          <a:xfrm>
            <a:off x="6662713" y="4052949"/>
            <a:ext cx="0" cy="611094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62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9377-781B-03BE-F458-54593B7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egnaposto data 3">
            <a:extLst>
              <a:ext uri="{FF2B5EF4-FFF2-40B4-BE49-F238E27FC236}">
                <a16:creationId xmlns:a16="http://schemas.microsoft.com/office/drawing/2014/main" id="{93985EFE-1055-D06D-910A-871F68FF68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C9A751-D52B-B24E-BFFE-D1A5D4D8A189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5" name="Segnaposto piè di pagina 4">
            <a:extLst>
              <a:ext uri="{FF2B5EF4-FFF2-40B4-BE49-F238E27FC236}">
                <a16:creationId xmlns:a16="http://schemas.microsoft.com/office/drawing/2014/main" id="{85EFDE94-777B-69A6-58EC-EAEEC5B4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8196" name="Segnaposto numero diapositiva 5">
            <a:extLst>
              <a:ext uri="{FF2B5EF4-FFF2-40B4-BE49-F238E27FC236}">
                <a16:creationId xmlns:a16="http://schemas.microsoft.com/office/drawing/2014/main" id="{F8E2B4F1-69BB-5012-33AB-B06DF2E5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5F33F367-DA9F-A94C-9DA8-0280AA7DB84E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489FE647-84C3-B06B-D721-AC532E1D5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pPr eaLnBrk="1" hangingPunct="1"/>
            <a:r>
              <a:rPr lang="en-GB"/>
              <a:t>Efficiency vs Sustainability Matrix</a:t>
            </a:r>
            <a:endParaRPr lang="en-GB" noProof="1"/>
          </a:p>
        </p:txBody>
      </p:sp>
      <p:sp>
        <p:nvSpPr>
          <p:cNvPr id="8199" name="Text Box 6">
            <a:extLst>
              <a:ext uri="{FF2B5EF4-FFF2-40B4-BE49-F238E27FC236}">
                <a16:creationId xmlns:a16="http://schemas.microsoft.com/office/drawing/2014/main" id="{1402C3CE-C09B-7862-4434-02B632813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Universities grouped by standardised efficiency and sustainability scores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4638C-6E4E-AD9B-88FA-C06C84C1D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6" b="5972"/>
          <a:stretch>
            <a:fillRect/>
          </a:stretch>
        </p:blipFill>
        <p:spPr>
          <a:xfrm>
            <a:off x="1691680" y="1545729"/>
            <a:ext cx="5432943" cy="45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4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4956-7075-E5AD-F5E4-D1BDF98D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3A956622-CB1A-8C20-4223-6E238733067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D13DEF20-DEF8-2E43-A0DA-D1DE1EB28B3E}" type="datetime1">
              <a:rPr lang="en-GB" noProof="1" smtClean="0"/>
              <a:t>03/06/2026</a:t>
            </a:fld>
            <a:endParaRPr lang="en-GB" noProof="1"/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20F4508E-ED71-4713-7D9E-0293EE76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noProof="1"/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724D5D6B-592D-1D42-A034-D4CCD334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Pagina </a:t>
            </a:r>
            <a:fld id="{74134811-EEA5-F540-930C-E3C76981342C}" type="slidenum">
              <a:rPr lang="en-GB" sz="1100" noProof="1" smtClean="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4C4AD403-DF9E-61B6-628F-8AD6E0CC2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Quadrant Interpretation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030473B6-4FC9-B178-59C0-F6FFEC143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F50044E6-69FA-BEB7-A7D2-9B54742E2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Bridging quantitative rankings with qualitative institutional behaviour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GB" sz="2200" noProof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D5878-5127-F7F8-078A-B8C9D47AC5B1}"/>
              </a:ext>
            </a:extLst>
          </p:cNvPr>
          <p:cNvSpPr/>
          <p:nvPr/>
        </p:nvSpPr>
        <p:spPr bwMode="auto">
          <a:xfrm>
            <a:off x="599626" y="1691911"/>
            <a:ext cx="3743774" cy="1953113"/>
          </a:xfrm>
          <a:prstGeom prst="rect">
            <a:avLst/>
          </a:prstGeom>
          <a:solidFill>
            <a:srgbClr val="0070C0">
              <a:alpha val="29804"/>
            </a:srgbClr>
          </a:solidFill>
          <a:ln w="28575">
            <a:solidFill>
              <a:srgbClr val="0070C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D5284-445E-C9E6-6A07-333DE4AEDFE7}"/>
              </a:ext>
            </a:extLst>
          </p:cNvPr>
          <p:cNvSpPr/>
          <p:nvPr/>
        </p:nvSpPr>
        <p:spPr bwMode="auto">
          <a:xfrm>
            <a:off x="4681313" y="1691911"/>
            <a:ext cx="3743774" cy="1953113"/>
          </a:xfrm>
          <a:prstGeom prst="rect">
            <a:avLst/>
          </a:prstGeom>
          <a:solidFill>
            <a:srgbClr val="00B050">
              <a:alpha val="29804"/>
            </a:srgbClr>
          </a:solidFill>
          <a:ln w="28575"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AA14D7-FFB5-0E0A-C84A-E7CD6F70FCE6}"/>
              </a:ext>
            </a:extLst>
          </p:cNvPr>
          <p:cNvSpPr/>
          <p:nvPr/>
        </p:nvSpPr>
        <p:spPr bwMode="auto">
          <a:xfrm>
            <a:off x="599867" y="3919355"/>
            <a:ext cx="3743774" cy="1953113"/>
          </a:xfrm>
          <a:prstGeom prst="rect">
            <a:avLst/>
          </a:prstGeom>
          <a:solidFill>
            <a:srgbClr val="7F7F7F">
              <a:alpha val="29804"/>
            </a:srgbClr>
          </a:solidFill>
          <a:ln w="28575">
            <a:solidFill>
              <a:schemeClr val="bg1">
                <a:lumMod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3FF65-915A-F286-BA7A-B86513846E49}"/>
              </a:ext>
            </a:extLst>
          </p:cNvPr>
          <p:cNvSpPr/>
          <p:nvPr/>
        </p:nvSpPr>
        <p:spPr bwMode="auto">
          <a:xfrm>
            <a:off x="4714426" y="3919354"/>
            <a:ext cx="3743774" cy="1953113"/>
          </a:xfrm>
          <a:prstGeom prst="rect">
            <a:avLst/>
          </a:prstGeom>
          <a:solidFill>
            <a:srgbClr val="FF0000">
              <a:alpha val="27059"/>
            </a:srgbClr>
          </a:solidFill>
          <a:ln w="28575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75411-67CE-FCB4-EAB4-85F9941321F2}"/>
              </a:ext>
            </a:extLst>
          </p:cNvPr>
          <p:cNvSpPr txBox="1"/>
          <p:nvPr/>
        </p:nvSpPr>
        <p:spPr>
          <a:xfrm>
            <a:off x="599626" y="1691910"/>
            <a:ext cx="516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LEHS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9DC3F-044F-70A4-23F6-ABDF3EE61BFB}"/>
              </a:ext>
            </a:extLst>
          </p:cNvPr>
          <p:cNvSpPr txBox="1"/>
          <p:nvPr/>
        </p:nvSpPr>
        <p:spPr>
          <a:xfrm>
            <a:off x="4714426" y="1691910"/>
            <a:ext cx="516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B050"/>
                </a:solidFill>
              </a:rPr>
              <a:t>HEHS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32BEA4-27E0-4E16-0306-41BD9146EF28}"/>
              </a:ext>
            </a:extLst>
          </p:cNvPr>
          <p:cNvSpPr txBox="1"/>
          <p:nvPr/>
        </p:nvSpPr>
        <p:spPr>
          <a:xfrm>
            <a:off x="599625" y="3919354"/>
            <a:ext cx="516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>
                    <a:lumMod val="50000"/>
                  </a:schemeClr>
                </a:solidFill>
              </a:rPr>
              <a:t>LELS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161F6-DCBA-37E9-7773-6DB53CF0B97C}"/>
              </a:ext>
            </a:extLst>
          </p:cNvPr>
          <p:cNvSpPr txBox="1"/>
          <p:nvPr/>
        </p:nvSpPr>
        <p:spPr>
          <a:xfrm>
            <a:off x="4714425" y="3919354"/>
            <a:ext cx="5163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HELS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83FB2A-148F-E6AD-51C0-D115045517DB}"/>
              </a:ext>
            </a:extLst>
          </p:cNvPr>
          <p:cNvSpPr txBox="1"/>
          <p:nvPr/>
        </p:nvSpPr>
        <p:spPr>
          <a:xfrm>
            <a:off x="1008994" y="1859340"/>
            <a:ext cx="333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70C0"/>
                </a:solidFill>
              </a:rPr>
              <a:t>Lower technical efficiency but strong sustainability orientation and communication</a:t>
            </a:r>
          </a:p>
          <a:p>
            <a:endParaRPr lang="en-US" sz="1200">
              <a:solidFill>
                <a:srgbClr val="0070C0"/>
              </a:solidFill>
            </a:endParaRPr>
          </a:p>
          <a:p>
            <a:r>
              <a:rPr lang="en-US" sz="1200">
                <a:solidFill>
                  <a:srgbClr val="0070C0"/>
                </a:solidFill>
              </a:rPr>
              <a:t>Institutions appear more focused on governance, SDGs, and sustainability visibility</a:t>
            </a:r>
          </a:p>
          <a:p>
            <a:endParaRPr lang="en-US" sz="1200">
              <a:solidFill>
                <a:srgbClr val="0070C0"/>
              </a:solidFill>
            </a:endParaRPr>
          </a:p>
          <a:p>
            <a:r>
              <a:rPr lang="en-US" sz="1200">
                <a:solidFill>
                  <a:srgbClr val="0070C0"/>
                </a:solidFill>
              </a:rPr>
              <a:t>Demonstrates that sustainability performance is not solely dependent on scale or productivity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E4720-7CC4-2E24-158A-BDE26DD948A0}"/>
              </a:ext>
            </a:extLst>
          </p:cNvPr>
          <p:cNvSpPr txBox="1"/>
          <p:nvPr/>
        </p:nvSpPr>
        <p:spPr>
          <a:xfrm>
            <a:off x="5090681" y="1780570"/>
            <a:ext cx="3334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B050"/>
                </a:solidFill>
              </a:rPr>
              <a:t>Strong operational performance alongside strong sustainability alignment</a:t>
            </a:r>
          </a:p>
          <a:p>
            <a:endParaRPr lang="en-US" sz="1200">
              <a:solidFill>
                <a:srgbClr val="00B050"/>
              </a:solidFill>
            </a:endParaRPr>
          </a:p>
          <a:p>
            <a:r>
              <a:rPr lang="en-US" sz="1200">
                <a:solidFill>
                  <a:srgbClr val="00B050"/>
                </a:solidFill>
              </a:rPr>
              <a:t>Sustainability appears integrated into governance, research, and institutional strategy</a:t>
            </a:r>
          </a:p>
          <a:p>
            <a:endParaRPr lang="en-US" sz="1200">
              <a:solidFill>
                <a:srgbClr val="00B050"/>
              </a:solidFill>
            </a:endParaRPr>
          </a:p>
          <a:p>
            <a:r>
              <a:rPr lang="en-US" sz="1200">
                <a:solidFill>
                  <a:srgbClr val="00B050"/>
                </a:solidFill>
              </a:rPr>
              <a:t>Often combines innovation, productivity, and visible ESG commitment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09634C-71AC-FEEE-C520-36226AA1E659}"/>
              </a:ext>
            </a:extLst>
          </p:cNvPr>
          <p:cNvSpPr txBox="1"/>
          <p:nvPr/>
        </p:nvSpPr>
        <p:spPr>
          <a:xfrm>
            <a:off x="5090681" y="4018747"/>
            <a:ext cx="3334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Operationally productive universities with weaker sustainability alignment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Strong traditional academic and research performance does not automatically translate into sustainability success</a:t>
            </a:r>
          </a:p>
          <a:p>
            <a:endParaRPr lang="en-US" sz="1200">
              <a:solidFill>
                <a:srgbClr val="FF0000"/>
              </a:solidFill>
            </a:endParaRPr>
          </a:p>
          <a:p>
            <a:r>
              <a:rPr lang="en-US" sz="1200">
                <a:solidFill>
                  <a:srgbClr val="FF0000"/>
                </a:solidFill>
              </a:rPr>
              <a:t>Suggests sustainability may be a lower institutional priority despite high capacity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C02E8-2763-6AFA-D67B-B89F3CD42DEB}"/>
              </a:ext>
            </a:extLst>
          </p:cNvPr>
          <p:cNvSpPr txBox="1"/>
          <p:nvPr/>
        </p:nvSpPr>
        <p:spPr>
          <a:xfrm>
            <a:off x="999797" y="4073563"/>
            <a:ext cx="3334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F7F7F"/>
                </a:solidFill>
              </a:rPr>
              <a:t>Lower performance across both operational efficiency and sustainability measures</a:t>
            </a:r>
          </a:p>
          <a:p>
            <a:endParaRPr lang="en-US" sz="1200">
              <a:solidFill>
                <a:srgbClr val="7F7F7F"/>
              </a:solidFill>
            </a:endParaRPr>
          </a:p>
          <a:p>
            <a:r>
              <a:rPr lang="en-US" sz="1200">
                <a:solidFill>
                  <a:srgbClr val="7F7F7F"/>
                </a:solidFill>
              </a:rPr>
              <a:t>Sustainability communication and institutional integration appear weaker or fragmented</a:t>
            </a:r>
          </a:p>
          <a:p>
            <a:endParaRPr lang="en-US" sz="1200">
              <a:solidFill>
                <a:srgbClr val="7F7F7F"/>
              </a:solidFill>
            </a:endParaRPr>
          </a:p>
          <a:p>
            <a:r>
              <a:rPr lang="en-US" sz="1200">
                <a:solidFill>
                  <a:srgbClr val="7F7F7F"/>
                </a:solidFill>
              </a:rPr>
              <a:t>May reflect broader structural or resource-related challenges</a:t>
            </a:r>
          </a:p>
        </p:txBody>
      </p:sp>
    </p:spTree>
    <p:extLst>
      <p:ext uri="{BB962C8B-B14F-4D97-AF65-F5344CB8AC3E}">
        <p14:creationId xmlns:p14="http://schemas.microsoft.com/office/powerpoint/2010/main" val="29689605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8B87A-86C1-A4AE-C534-61551BDE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640441-8E6C-4D4F-B581-BABF11F447F9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C3855-21B1-04E9-E3F8-FF80DC1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it-IT" err="1"/>
              <a:t>Results</a:t>
            </a:r>
            <a:endParaRPr lang="it-IT" alt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1F4D9-3737-1DC9-E6BE-B84C661F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CA019159-3D41-4347-9E4E-2D45AC1E357D}" type="slidenum">
              <a:rPr lang="it-IT" altLang="it-IT" smtClean="0"/>
              <a:pPr/>
              <a:t>12</a:t>
            </a:fld>
            <a:endParaRPr lang="it-IT" altLang="it-IT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9D3865F-B894-A2EB-490B-F3A5350FE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Quadrant Drivers (Positive)</a:t>
            </a:r>
            <a:endParaRPr lang="en-GB" noProof="1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27AFDE6-D13B-978B-181D-03F695D42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HELS consistently recorded the strongest efficiency-related driver values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6139E7-CFD0-9850-88A6-BE2D592D3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847" y="1831223"/>
            <a:ext cx="3948556" cy="324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211604-42F8-464E-6A09-B3D913D2D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23" y="1831223"/>
            <a:ext cx="3769024" cy="3249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A22F76-0048-AED2-911F-4ED882C6026A}"/>
              </a:ext>
            </a:extLst>
          </p:cNvPr>
          <p:cNvSpPr txBox="1"/>
          <p:nvPr/>
        </p:nvSpPr>
        <p:spPr>
          <a:xfrm>
            <a:off x="1219200" y="5259014"/>
            <a:ext cx="741680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Productive universities may </a:t>
            </a:r>
            <a:r>
              <a:rPr lang="en-US" sz="1600" err="1">
                <a:solidFill>
                  <a:schemeClr val="tx1"/>
                </a:solidFill>
              </a:rPr>
              <a:t>prioritise</a:t>
            </a:r>
            <a:r>
              <a:rPr lang="en-US" sz="1600">
                <a:solidFill>
                  <a:schemeClr val="tx1"/>
                </a:solidFill>
              </a:rPr>
              <a:t> research competitiveness over sustainability integration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16BDF-31A9-02E4-621B-D688896F483A}"/>
              </a:ext>
            </a:extLst>
          </p:cNvPr>
          <p:cNvSpPr txBox="1"/>
          <p:nvPr/>
        </p:nvSpPr>
        <p:spPr>
          <a:xfrm>
            <a:off x="2888630" y="2933227"/>
            <a:ext cx="1608001" cy="769441"/>
          </a:xfrm>
          <a:prstGeom prst="rect">
            <a:avLst/>
          </a:prstGeom>
          <a:solidFill>
            <a:srgbClr val="00B05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LEHS and LELS did not maintain a consistent ordering across all drivers</a:t>
            </a:r>
            <a:endParaRPr lang="en-US" sz="11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664D1-BD70-B543-91B6-8422D9FA39C8}"/>
              </a:ext>
            </a:extLst>
          </p:cNvPr>
          <p:cNvSpPr txBox="1"/>
          <p:nvPr/>
        </p:nvSpPr>
        <p:spPr>
          <a:xfrm>
            <a:off x="6944324" y="2302243"/>
            <a:ext cx="1484079" cy="1107996"/>
          </a:xfrm>
          <a:prstGeom prst="rect">
            <a:avLst/>
          </a:prstGeom>
          <a:solidFill>
            <a:srgbClr val="00B05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Some drivers may reflect institutional scale or funding structures more than sustainability orientation</a:t>
            </a:r>
            <a:endParaRPr lang="en-US" sz="1100" b="1"/>
          </a:p>
        </p:txBody>
      </p:sp>
    </p:spTree>
    <p:extLst>
      <p:ext uri="{BB962C8B-B14F-4D97-AF65-F5344CB8AC3E}">
        <p14:creationId xmlns:p14="http://schemas.microsoft.com/office/powerpoint/2010/main" val="266483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A9A4-D91C-FB9C-88C2-83B0D9B1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846083-977D-5E1D-C66C-7392FC32B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631" y="1777324"/>
            <a:ext cx="3903713" cy="34816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773C22-1E8C-75BD-844E-21A778E48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88" y="1785816"/>
            <a:ext cx="3903712" cy="347319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6D0C-2ED9-9083-0EDA-13A7E9D1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C55C8B-BE0F-DA44-8DCE-151016865FF7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05C9E-D010-4E59-1185-D3E3C454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it-IT" err="1"/>
              <a:t>Results</a:t>
            </a:r>
            <a:endParaRPr lang="it-IT" alt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97F0-FC8C-3EEC-6E39-DD103195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CA019159-3D41-4347-9E4E-2D45AC1E357D}" type="slidenum">
              <a:rPr lang="it-IT" altLang="it-IT" smtClean="0"/>
              <a:pPr/>
              <a:t>13</a:t>
            </a:fld>
            <a:endParaRPr lang="it-IT" altLang="it-IT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317D59E-0984-50C0-34EA-BFF1BBEAD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Quadrant Drivers (Negative)</a:t>
            </a:r>
            <a:endParaRPr lang="en-GB" noProof="1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4CFC5380-670B-4B41-6CD2-01A040F62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Negative drivers showed weaker and less consistent quadrant separation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C6BC65-10D7-EC41-89C1-B92F29C654C3}"/>
              </a:ext>
            </a:extLst>
          </p:cNvPr>
          <p:cNvSpPr txBox="1"/>
          <p:nvPr/>
        </p:nvSpPr>
        <p:spPr>
          <a:xfrm>
            <a:off x="1219200" y="5259014"/>
            <a:ext cx="741680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Research-intensive institutions may </a:t>
            </a:r>
            <a:r>
              <a:rPr lang="en-US" sz="1600" err="1">
                <a:solidFill>
                  <a:schemeClr val="tx1"/>
                </a:solidFill>
              </a:rPr>
              <a:t>prioritise</a:t>
            </a:r>
            <a:r>
              <a:rPr lang="en-US" sz="1600">
                <a:solidFill>
                  <a:schemeClr val="tx1"/>
                </a:solidFill>
              </a:rPr>
              <a:t> academic competitiveness over sustainability integration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0369C-C702-FCC4-A512-AB190C0C02F3}"/>
              </a:ext>
            </a:extLst>
          </p:cNvPr>
          <p:cNvSpPr txBox="1"/>
          <p:nvPr/>
        </p:nvSpPr>
        <p:spPr>
          <a:xfrm>
            <a:off x="1249914" y="2748728"/>
            <a:ext cx="1608001" cy="769441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Most negative drivers displayed ambiguous or overlapping quadrant </a:t>
            </a:r>
            <a:r>
              <a:rPr lang="en-US" sz="1100" err="1"/>
              <a:t>behaviour</a:t>
            </a:r>
            <a:endParaRPr lang="en-US" sz="11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66CB2A-CB0C-C4D0-FABF-F5B8CD1AF711}"/>
              </a:ext>
            </a:extLst>
          </p:cNvPr>
          <p:cNvSpPr txBox="1"/>
          <p:nvPr/>
        </p:nvSpPr>
        <p:spPr>
          <a:xfrm>
            <a:off x="2942594" y="3448879"/>
            <a:ext cx="1484079" cy="1107996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Age-related drivers may reflect slower institutional adaptation and overlapping demographic effects</a:t>
            </a:r>
            <a:endParaRPr lang="en-US" sz="11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4C936-80B1-FA6E-ABD5-22F9CD8054D7}"/>
              </a:ext>
            </a:extLst>
          </p:cNvPr>
          <p:cNvSpPr txBox="1"/>
          <p:nvPr/>
        </p:nvSpPr>
        <p:spPr>
          <a:xfrm>
            <a:off x="6812257" y="3335740"/>
            <a:ext cx="1484079" cy="769441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Nature and Science publications showed the clearest quadrant separation</a:t>
            </a:r>
            <a:endParaRPr lang="en-US" sz="1100" b="1"/>
          </a:p>
        </p:txBody>
      </p:sp>
    </p:spTree>
    <p:extLst>
      <p:ext uri="{BB962C8B-B14F-4D97-AF65-F5344CB8AC3E}">
        <p14:creationId xmlns:p14="http://schemas.microsoft.com/office/powerpoint/2010/main" val="2203502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3EF35-85ED-CF95-4BDF-E7E8493C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D44A1-A3B4-11B9-0C7C-6CEF7330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B6C0FF-0AC9-314C-97F7-8124A85DBE0F}" type="datetime1">
              <a:rPr lang="en-GB" altLang="it-IT" smtClean="0"/>
              <a:t>03/06/2026</a:t>
            </a:fld>
            <a:endParaRPr lang="it-IT" alt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BAD2E-C1B2-5A20-733E-D97352F5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 altLang="it-IT" err="1"/>
              <a:t>Results</a:t>
            </a:r>
            <a:endParaRPr lang="it-IT" alt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23EBC-2412-CCAB-E66A-9902C420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CA019159-3D41-4347-9E4E-2D45AC1E357D}" type="slidenum">
              <a:rPr lang="it-IT" altLang="it-IT" smtClean="0"/>
              <a:pPr/>
              <a:t>14</a:t>
            </a:fld>
            <a:endParaRPr lang="it-IT" altLang="it-IT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C9EF659-30EF-6F0B-C9D6-135CD5EF7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Qualitative Analysis of Sustainability Narratives</a:t>
            </a:r>
            <a:endParaRPr lang="en-GB" noProof="1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8558E00-EBE7-E637-8AB6-8DDEC38C8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Comparing sustainability narratives across institutional quadrants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2C7297-FBBC-1FF7-C34A-545E68995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122" y="1667828"/>
            <a:ext cx="3742618" cy="2006352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F1D7C-6A7E-38D6-0575-F068A769E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122" y="3810165"/>
            <a:ext cx="3742618" cy="200635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1FD381-4F13-9B1B-CCED-BCB9730A92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88" y="1667828"/>
            <a:ext cx="3742619" cy="2006352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C6CD05-0C4A-9CAE-607F-5658FA7EC5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96" y="3810165"/>
            <a:ext cx="3742619" cy="2006352"/>
          </a:xfrm>
          <a:prstGeom prst="rect">
            <a:avLst/>
          </a:prstGeom>
          <a:ln w="28575"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99070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2B14-D941-018D-4859-3698A4DF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B3A137C7-BD10-13C1-77EB-DF2A1A1D02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4D5172-62E7-E44C-A7A1-996BA19DEF5D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DC17CCE0-958A-42D2-A8A0-1E4A98FC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2BEBC1A3-6567-F5B9-731F-93D0AE29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 16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A563AD19-0E71-2B8E-B77B-FA162B284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Key Contributions of the Framework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039960B6-814B-580B-8457-67B818E4E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9EF46240-EA60-F338-1F3D-56C7DE9B3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776288"/>
            <a:ext cx="76324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000"/>
              <a:t>Subtitle here</a:t>
            </a:r>
            <a:endParaRPr lang="en-GB" sz="2200" noProof="1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C3A2146C-F890-E046-16D2-4B6019FD3167}"/>
              </a:ext>
            </a:extLst>
          </p:cNvPr>
          <p:cNvSpPr txBox="1"/>
          <p:nvPr/>
        </p:nvSpPr>
        <p:spPr>
          <a:xfrm>
            <a:off x="1835694" y="1366939"/>
            <a:ext cx="7014941" cy="1323439"/>
          </a:xfrm>
          <a:prstGeom prst="rect">
            <a:avLst/>
          </a:prstGeom>
          <a:noFill/>
          <a:ln w="19050" cap="flat" cmpd="sng" algn="ctr">
            <a:solidFill>
              <a:srgbClr val="8223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822333"/>
                </a:solidFill>
              </a:rPr>
              <a:t>Methodological Contribution</a:t>
            </a:r>
            <a:br>
              <a:rPr lang="en-US" sz="2000" b="1">
                <a:solidFill>
                  <a:srgbClr val="822333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Bridges quantitative rankings with qualitative institutional interpretation through an interpretable correlation-based framework.</a:t>
            </a:r>
            <a:endParaRPr lang="en-GB" sz="2000">
              <a:solidFill>
                <a:srgbClr val="000000"/>
              </a:solidFill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A157185-27E6-BFA8-912E-87CA4EB89F6B}"/>
              </a:ext>
            </a:extLst>
          </p:cNvPr>
          <p:cNvSpPr txBox="1"/>
          <p:nvPr/>
        </p:nvSpPr>
        <p:spPr>
          <a:xfrm>
            <a:off x="1835694" y="2880919"/>
            <a:ext cx="6984778" cy="1323439"/>
          </a:xfrm>
          <a:prstGeom prst="rect">
            <a:avLst/>
          </a:prstGeom>
          <a:noFill/>
          <a:ln w="19050" cap="flat" cmpd="sng" algn="ctr">
            <a:solidFill>
              <a:srgbClr val="8223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>
                <a:solidFill>
                  <a:srgbClr val="822333"/>
                </a:solidFill>
              </a:rPr>
              <a:t>Diagnostic Contribution</a:t>
            </a:r>
          </a:p>
          <a:p>
            <a:pPr algn="just"/>
            <a:r>
              <a:rPr lang="en-US" sz="2000">
                <a:solidFill>
                  <a:srgbClr val="000000"/>
                </a:solidFill>
              </a:rPr>
              <a:t>Introduces an efficiency-sustainability quadrant model to identify institutional </a:t>
            </a:r>
            <a:r>
              <a:rPr lang="en-US" sz="2000" err="1">
                <a:solidFill>
                  <a:srgbClr val="000000"/>
                </a:solidFill>
              </a:rPr>
              <a:t>behaviour</a:t>
            </a:r>
            <a:r>
              <a:rPr lang="en-US" sz="2000">
                <a:solidFill>
                  <a:srgbClr val="000000"/>
                </a:solidFill>
              </a:rPr>
              <a:t> and strategic positioning.</a:t>
            </a:r>
          </a:p>
          <a:p>
            <a:pPr algn="just"/>
            <a:endParaRPr lang="en-US" sz="2000">
              <a:solidFill>
                <a:srgbClr val="822333"/>
              </a:solidFill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413C1DE-D1C8-1232-1102-715A4642D4BF}"/>
              </a:ext>
            </a:extLst>
          </p:cNvPr>
          <p:cNvSpPr txBox="1"/>
          <p:nvPr/>
        </p:nvSpPr>
        <p:spPr>
          <a:xfrm>
            <a:off x="1830657" y="4394899"/>
            <a:ext cx="7014941" cy="1323439"/>
          </a:xfrm>
          <a:prstGeom prst="rect">
            <a:avLst/>
          </a:prstGeom>
          <a:noFill/>
          <a:ln w="19050" cap="flat" cmpd="sng" algn="ctr">
            <a:solidFill>
              <a:srgbClr val="8223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000" b="1">
                <a:solidFill>
                  <a:srgbClr val="822333"/>
                </a:solidFill>
              </a:rPr>
              <a:t>Technical Contribution</a:t>
            </a:r>
          </a:p>
          <a:p>
            <a:pPr algn="just"/>
            <a:r>
              <a:rPr lang="en-US" sz="2000">
                <a:solidFill>
                  <a:srgbClr val="000000"/>
                </a:solidFill>
              </a:rPr>
              <a:t>Integrates ontology modelling, NLP, and automated web scraping into a scalable mixed-method sustainability framework.</a:t>
            </a:r>
            <a:endParaRPr lang="en-US" sz="2000"/>
          </a:p>
        </p:txBody>
      </p:sp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F314E94A-8767-7374-E5B0-E25AAEA44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365" y="1342862"/>
            <a:ext cx="1383035" cy="1383035"/>
          </a:xfrm>
          <a:prstGeom prst="rect">
            <a:avLst/>
          </a:prstGeom>
        </p:spPr>
      </p:pic>
      <p:pic>
        <p:nvPicPr>
          <p:cNvPr id="10" name="Graphic 9" descr="Stethoscope with solid fill">
            <a:extLst>
              <a:ext uri="{FF2B5EF4-FFF2-40B4-BE49-F238E27FC236}">
                <a16:creationId xmlns:a16="http://schemas.microsoft.com/office/drawing/2014/main" id="{FD9F77C8-C8A3-6528-61AA-31D02960C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496" y="2913920"/>
            <a:ext cx="1225274" cy="1225274"/>
          </a:xfrm>
          <a:prstGeom prst="rect">
            <a:avLst/>
          </a:prstGeom>
        </p:spPr>
      </p:pic>
      <p:pic>
        <p:nvPicPr>
          <p:cNvPr id="12" name="Graphic 11" descr="Blueprint with solid fill">
            <a:extLst>
              <a:ext uri="{FF2B5EF4-FFF2-40B4-BE49-F238E27FC236}">
                <a16:creationId xmlns:a16="http://schemas.microsoft.com/office/drawing/2014/main" id="{0C1A0619-36F7-56AF-B3F9-C1F83C08C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828" y="4319874"/>
            <a:ext cx="1358499" cy="135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5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15E45AB6-32AF-4E06-2955-9B8E6B3985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16DB21-3FC5-1D4C-8A5E-9A3DF018E1C4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2B3C90BB-B6A7-58CC-6950-1EF358EB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621344F6-0A0A-71E4-6DF5-E9C0C771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 17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276B03CA-592B-E9AC-54B4-CCE0805AC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/>
              <a:t>Limitations and Future Research</a:t>
            </a:r>
            <a:endParaRPr lang="en-GB" noProof="1"/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E692FC68-59B1-7D12-BA11-F72570F185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0503" y="2276943"/>
            <a:ext cx="5029202" cy="1368152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en-GB" sz="1400" noProof="1"/>
              <a:t>Small sample size limited statistical generalisability</a:t>
            </a: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GB" sz="1400" noProof="1"/>
              <a:t>Correlations identify relationships, not causation</a:t>
            </a: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GB" sz="1400" noProof="1"/>
              <a:t>Web scraping depended on inconsistent university websites</a:t>
            </a: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GB" sz="1400" noProof="1"/>
              <a:t>Sustainability rankings contain methodological bias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AE9DE916-F117-0016-2D8F-48A35A52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25D32323-31A3-A249-4CC5-F8246470D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Exploratory framework with opportunities for further development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GB" sz="2200" noProof="1"/>
          </a:p>
        </p:txBody>
      </p:sp>
      <p:pic>
        <p:nvPicPr>
          <p:cNvPr id="3" name="Graphic 2" descr="Business Growth with solid fill">
            <a:extLst>
              <a:ext uri="{FF2B5EF4-FFF2-40B4-BE49-F238E27FC236}">
                <a16:creationId xmlns:a16="http://schemas.microsoft.com/office/drawing/2014/main" id="{D974E0BB-2884-B2DE-B186-417275B61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1368" y="3830911"/>
            <a:ext cx="2128664" cy="2128664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3C27A79-46F1-8C55-B1F8-5FB144F25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54" y="4298856"/>
            <a:ext cx="741352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40000"/>
              </a:lnSpc>
              <a:buFontTx/>
              <a:buNone/>
            </a:pPr>
            <a:r>
              <a:rPr lang="en-GB" sz="1400" noProof="1"/>
              <a:t>Expand framework to larger multi-country datasets</a:t>
            </a:r>
          </a:p>
          <a:p>
            <a:pPr marL="0" indent="0" eaLnBrk="1" hangingPunct="1">
              <a:lnSpc>
                <a:spcPct val="140000"/>
              </a:lnSpc>
              <a:buFontTx/>
              <a:buNone/>
            </a:pPr>
            <a:r>
              <a:rPr lang="en-GB" sz="1400" noProof="1"/>
              <a:t>Apply semantic and transformer-based NLP models</a:t>
            </a:r>
          </a:p>
          <a:p>
            <a:pPr marL="0" indent="0" eaLnBrk="1" hangingPunct="1">
              <a:lnSpc>
                <a:spcPct val="140000"/>
              </a:lnSpc>
              <a:buFontTx/>
              <a:buNone/>
            </a:pPr>
            <a:r>
              <a:rPr lang="en-GB" sz="1400" noProof="1"/>
              <a:t>Investigate institutional changes through longitudinal analysis</a:t>
            </a:r>
          </a:p>
          <a:p>
            <a:pPr marL="0" indent="0" eaLnBrk="1" hangingPunct="1">
              <a:lnSpc>
                <a:spcPct val="140000"/>
              </a:lnSpc>
              <a:buFontTx/>
              <a:buNone/>
            </a:pPr>
            <a:r>
              <a:rPr lang="en-GB" sz="1400" noProof="1"/>
              <a:t>Incorporate causal inference and advanced modelling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241DC-533E-28BA-E000-A85380AA1AA3}"/>
              </a:ext>
            </a:extLst>
          </p:cNvPr>
          <p:cNvSpPr txBox="1"/>
          <p:nvPr/>
        </p:nvSpPr>
        <p:spPr>
          <a:xfrm>
            <a:off x="399618" y="1805435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u="sng">
                <a:solidFill>
                  <a:schemeClr val="tx1"/>
                </a:solidFill>
              </a:rPr>
              <a:t>Limitations</a:t>
            </a:r>
            <a:endParaRPr lang="en-US" sz="2000" b="1" u="sng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83B4F-7CD7-E223-8E0B-21B71FDBCBA3}"/>
              </a:ext>
            </a:extLst>
          </p:cNvPr>
          <p:cNvSpPr txBox="1"/>
          <p:nvPr/>
        </p:nvSpPr>
        <p:spPr>
          <a:xfrm>
            <a:off x="399618" y="382743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u="sng">
                <a:solidFill>
                  <a:schemeClr val="tx1"/>
                </a:solidFill>
              </a:rPr>
              <a:t>Future Work</a:t>
            </a:r>
            <a:endParaRPr lang="en-US" sz="2000" b="1" u="sng">
              <a:solidFill>
                <a:schemeClr val="tx1"/>
              </a:solidFill>
            </a:endParaRPr>
          </a:p>
        </p:txBody>
      </p:sp>
      <p:pic>
        <p:nvPicPr>
          <p:cNvPr id="9" name="Graphic 8" descr="Adhesive Bandage with solid fill">
            <a:extLst>
              <a:ext uri="{FF2B5EF4-FFF2-40B4-BE49-F238E27FC236}">
                <a16:creationId xmlns:a16="http://schemas.microsoft.com/office/drawing/2014/main" id="{4F6D062D-09B4-EE7F-B542-50AB4DF70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1368" y="1757096"/>
            <a:ext cx="2016832" cy="20168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CD4C-81BE-61B6-6893-07999C82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4654AF85-ED5A-50EE-DCEE-AFC70033E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AA09D6-9E68-E743-A210-3362A4D34679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63309554-6C78-8A30-B975-8BB2335C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76C6B792-3A21-7D13-8DCC-8D03DED4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</a:t>
            </a:r>
            <a:r>
              <a:rPr lang="en-GB" sz="1100" noProof="1">
                <a:latin typeface="Arial"/>
                <a:ea typeface="ＭＳ Ｐゴシック"/>
                <a:cs typeface="Arial"/>
              </a:rPr>
              <a:t> </a:t>
            </a: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18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F3FF8BB3-E30E-002B-B213-9B3874B31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>
            <a:normAutofit/>
          </a:bodyPr>
          <a:lstStyle/>
          <a:p>
            <a:pPr eaLnBrk="1" hangingPunct="1"/>
            <a:r>
              <a:rPr lang="en-GB"/>
              <a:t>Conclusion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E0359408-5873-9400-1F4B-5BC5FAD56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A6DEC14-BA7B-AE6E-9071-DAF2EE60D6A2}"/>
              </a:ext>
            </a:extLst>
          </p:cNvPr>
          <p:cNvGrpSpPr/>
          <p:nvPr/>
        </p:nvGrpSpPr>
        <p:grpSpPr>
          <a:xfrm>
            <a:off x="409366" y="1139824"/>
            <a:ext cx="8529917" cy="4055671"/>
            <a:chOff x="266000" y="1185946"/>
            <a:chExt cx="8620947" cy="4135023"/>
          </a:xfrm>
        </p:grpSpPr>
        <p:sp>
          <p:nvSpPr>
            <p:cNvPr id="3" name="Rectángulo: esquinas redondeadas 6387">
              <a:extLst>
                <a:ext uri="{FF2B5EF4-FFF2-40B4-BE49-F238E27FC236}">
                  <a16:creationId xmlns:a16="http://schemas.microsoft.com/office/drawing/2014/main" id="{A311AAE7-3D0A-0D97-73D2-8BCBBEAFD317}"/>
                </a:ext>
              </a:extLst>
            </p:cNvPr>
            <p:cNvSpPr/>
            <p:nvPr/>
          </p:nvSpPr>
          <p:spPr>
            <a:xfrm>
              <a:off x="266000" y="1185946"/>
              <a:ext cx="8620947" cy="742293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Sustainability in HEIs is not just operational - it is also organisational, communicative, and governance-driven.</a:t>
              </a:r>
              <a:endParaRPr lang="pt-PT" sz="2000">
                <a:solidFill>
                  <a:schemeClr val="bg1"/>
                </a:solidFill>
                <a:cs typeface="Arial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26712FDB-909C-B9F4-7F3D-74A2019D9D34}"/>
                </a:ext>
              </a:extLst>
            </p:cNvPr>
            <p:cNvGrpSpPr/>
            <p:nvPr/>
          </p:nvGrpSpPr>
          <p:grpSpPr>
            <a:xfrm>
              <a:off x="748092" y="2306472"/>
              <a:ext cx="7638457" cy="769441"/>
              <a:chOff x="748092" y="2306472"/>
              <a:chExt cx="7638457" cy="769441"/>
            </a:xfrm>
          </p:grpSpPr>
          <p:sp>
            <p:nvSpPr>
              <p:cNvPr id="2" name="Não É Igual A 1">
                <a:extLst>
                  <a:ext uri="{FF2B5EF4-FFF2-40B4-BE49-F238E27FC236}">
                    <a16:creationId xmlns:a16="http://schemas.microsoft.com/office/drawing/2014/main" id="{756B7CE0-016A-FFC6-73A6-2D9FF38F6D34}"/>
                  </a:ext>
                </a:extLst>
              </p:cNvPr>
              <p:cNvSpPr/>
              <p:nvPr/>
            </p:nvSpPr>
            <p:spPr bwMode="auto">
              <a:xfrm>
                <a:off x="748092" y="2410822"/>
                <a:ext cx="735841" cy="571213"/>
              </a:xfrm>
              <a:prstGeom prst="mathNotEqual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04698AB-E2AF-D592-8F80-8F9176D48177}"/>
                  </a:ext>
                </a:extLst>
              </p:cNvPr>
              <p:cNvSpPr txBox="1"/>
              <p:nvPr/>
            </p:nvSpPr>
            <p:spPr>
              <a:xfrm>
                <a:off x="1658203" y="2306472"/>
                <a:ext cx="6728346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i="0">
                    <a:solidFill>
                      <a:srgbClr val="7A1C2E"/>
                    </a:solidFill>
                    <a:effectLst/>
                    <a:latin typeface="Calibri" panose="020F0502020204030204" pitchFamily="34" charset="0"/>
                  </a:rPr>
                  <a:t>Efficiency ≠ Sustainability</a:t>
                </a:r>
              </a:p>
              <a:p>
                <a:r>
                  <a:rPr lang="en-US" sz="1400">
                    <a:solidFill>
                      <a:srgbClr val="000000"/>
                    </a:solidFill>
                  </a:rPr>
                  <a:t>High operational productivity does not automatically translate into strong sustainability alignment.</a:t>
                </a:r>
                <a:endParaRPr lang="en-US" sz="320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9" name="Gráfico 8" descr="Camadas (Design) com preenchimento sólido">
              <a:extLst>
                <a:ext uri="{FF2B5EF4-FFF2-40B4-BE49-F238E27FC236}">
                  <a16:creationId xmlns:a16="http://schemas.microsoft.com/office/drawing/2014/main" id="{27FA2F4C-2505-C25B-2C4B-CC6B1C6096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8092" y="3464618"/>
              <a:ext cx="735841" cy="735841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C542921-71E2-0097-0245-81DD92380022}"/>
                </a:ext>
              </a:extLst>
            </p:cNvPr>
            <p:cNvSpPr txBox="1"/>
            <p:nvPr/>
          </p:nvSpPr>
          <p:spPr>
            <a:xfrm>
              <a:off x="1658203" y="3429000"/>
              <a:ext cx="6728346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rgbClr val="7A1C2E"/>
                  </a:solidFill>
                  <a:latin typeface="Calibri" panose="020F0502020204030204" pitchFamily="34" charset="0"/>
                </a:rPr>
                <a:t>Framework Supports Interpretability</a:t>
              </a:r>
              <a:endParaRPr lang="en-US" sz="1600" b="1" i="0">
                <a:solidFill>
                  <a:srgbClr val="7A1C2E"/>
                </a:solidFill>
                <a:effectLst/>
                <a:latin typeface="Calibri" panose="020F0502020204030204" pitchFamily="34" charset="0"/>
              </a:endParaRPr>
            </a:p>
            <a:p>
              <a:r>
                <a:rPr lang="en-US" sz="1400">
                  <a:solidFill>
                    <a:srgbClr val="000000"/>
                  </a:solidFill>
                </a:rPr>
                <a:t>Correlation-based drivers and the quadrant model make quantitative data actionable for qualitative analysis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080351D-8752-F732-038E-75AA44C8FF4B}"/>
                </a:ext>
              </a:extLst>
            </p:cNvPr>
            <p:cNvSpPr txBox="1"/>
            <p:nvPr/>
          </p:nvSpPr>
          <p:spPr>
            <a:xfrm>
              <a:off x="1658203" y="4551528"/>
              <a:ext cx="6728346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b="1">
                  <a:solidFill>
                    <a:srgbClr val="7A1C2E"/>
                  </a:solidFill>
                  <a:latin typeface="Calibri" panose="020F0502020204030204" pitchFamily="34" charset="0"/>
                </a:rPr>
                <a:t>Qualitative Context Matters</a:t>
              </a:r>
            </a:p>
            <a:p>
              <a:r>
                <a:rPr lang="en-US" sz="1400">
                  <a:solidFill>
                    <a:srgbClr val="000000"/>
                  </a:solidFill>
                </a:rPr>
                <a:t>Governance priorities, SDG narratives, and institutional communication shape sustainability outcomes beyond measurable outputs.</a:t>
              </a:r>
            </a:p>
          </p:txBody>
        </p:sp>
        <p:pic>
          <p:nvPicPr>
            <p:cNvPr id="17" name="Gráfico 16" descr="Balão de fala com preenchimento sólido">
              <a:extLst>
                <a:ext uri="{FF2B5EF4-FFF2-40B4-BE49-F238E27FC236}">
                  <a16:creationId xmlns:a16="http://schemas.microsoft.com/office/drawing/2014/main" id="{E796DF78-D6D1-A929-CE3A-446634133C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8092" y="4576169"/>
              <a:ext cx="735841" cy="735841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A8F3C85-1588-7E4D-CD94-A0F29300070C}"/>
              </a:ext>
            </a:extLst>
          </p:cNvPr>
          <p:cNvSpPr txBox="1"/>
          <p:nvPr/>
        </p:nvSpPr>
        <p:spPr>
          <a:xfrm>
            <a:off x="1682052" y="5405144"/>
            <a:ext cx="5984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 - </a:t>
            </a:r>
            <a:r>
              <a:rPr lang="en-GB" sz="2800" b="1">
                <a:solidFill>
                  <a:schemeClr val="tx1"/>
                </a:solidFill>
              </a:rPr>
              <a:t>A</a:t>
            </a:r>
            <a:r>
              <a:rPr lang="en-GB" sz="2800" b="1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ny questions?</a:t>
            </a:r>
            <a:endParaRPr lang="en-US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59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4B49-F689-0DE7-B6F8-0EEA8200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3060A635-C043-4454-57C8-0EEBE4FF60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457748-0759-8F4D-B712-66390593F074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FA20C1F9-21CE-C7A4-7B12-FB45F1E0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E2EC3DBD-3E8E-CC01-BB8B-D7F97A6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 17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1014432-642E-ACEC-14F8-BE0369D7A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 dirty="0"/>
              <a:t>Appendix A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ED1B00BA-1828-8602-4435-C27A38858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A3495707-7A02-DEB7-4B59-62CBE063A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Quadrant behaviour on other positive drivers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1B2EFD-8694-3A7B-B1A0-6473F5895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289" y="3561145"/>
            <a:ext cx="3475422" cy="22141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F73B71-2736-0397-6E80-12FFC51258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188" y="1285875"/>
            <a:ext cx="3482429" cy="22141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D8E0C1-83AD-0EFD-D4BF-CC2FC20FA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78" y="1285875"/>
            <a:ext cx="3475422" cy="221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99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2C8F-8AB8-2E72-189E-22F861EB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89E1DE01-F3B4-BD51-EC85-7CAC3C07CD5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98B2C7-C1EC-8140-814E-49ADF6B4F8C8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74BAA501-22DA-C939-557E-14BAD88F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077F0951-54F0-B504-A3A2-BC5D7350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 17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C030FA2-1E06-D307-35F3-8ACC18EBB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 dirty="0"/>
              <a:t>Appendix B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3245975B-A607-8DF7-12C5-4F791B6BD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6153" name="Text Box 10">
            <a:extLst>
              <a:ext uri="{FF2B5EF4-FFF2-40B4-BE49-F238E27FC236}">
                <a16:creationId xmlns:a16="http://schemas.microsoft.com/office/drawing/2014/main" id="{FDB937FB-04F3-DC8E-5FA8-F99EBE14A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Quadrant behaviour on other negative drivers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45AF71-7F1C-5E2A-DAC6-619CE0F8D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3321387"/>
            <a:ext cx="3149600" cy="200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EB287C-4892-D286-092C-FE18956266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177" y="3321387"/>
            <a:ext cx="3149600" cy="200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261ACF-4436-151A-8573-A4D12B4D9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1207175"/>
            <a:ext cx="3149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83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4D72-3599-AF53-1E32-2D6A694D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egnaposto data 4">
            <a:extLst>
              <a:ext uri="{FF2B5EF4-FFF2-40B4-BE49-F238E27FC236}">
                <a16:creationId xmlns:a16="http://schemas.microsoft.com/office/drawing/2014/main" id="{CAE5F7C0-273D-C506-FAFC-460907CBB8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752E32-64FA-464C-91CA-DAD5990E6217}" type="datetime1">
              <a:rPr lang="en-GB" sz="1100" noProof="1" smtClean="0">
                <a:solidFill>
                  <a:schemeClr val="bg1"/>
                </a:solidFill>
              </a:rPr>
              <a:t>03/06/2026</a:t>
            </a:fld>
            <a:endParaRPr lang="en-GB" sz="1100" noProof="1">
              <a:solidFill>
                <a:schemeClr val="bg1"/>
              </a:solidFill>
            </a:endParaRPr>
          </a:p>
        </p:txBody>
      </p:sp>
      <p:sp>
        <p:nvSpPr>
          <p:cNvPr id="6147" name="Segnaposto piè di pagina 5">
            <a:extLst>
              <a:ext uri="{FF2B5EF4-FFF2-40B4-BE49-F238E27FC236}">
                <a16:creationId xmlns:a16="http://schemas.microsoft.com/office/drawing/2014/main" id="{F7009F23-AF89-12D8-E004-0093608A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711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148" name="Segnaposto numero diapositiva 6">
            <a:extLst>
              <a:ext uri="{FF2B5EF4-FFF2-40B4-BE49-F238E27FC236}">
                <a16:creationId xmlns:a16="http://schemas.microsoft.com/office/drawing/2014/main" id="{30B922DD-CDC5-A56B-0AFA-FC6BB710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sz="1100" noProof="1">
                <a:solidFill>
                  <a:schemeClr val="bg1"/>
                </a:solidFill>
                <a:latin typeface="Arial"/>
                <a:ea typeface="ＭＳ Ｐゴシック"/>
                <a:cs typeface="Arial"/>
              </a:rPr>
              <a:t>Pagina 17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B7349B91-73E4-310B-DD94-053D526B1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4813"/>
            <a:ext cx="7416800" cy="509587"/>
          </a:xfrm>
        </p:spPr>
        <p:txBody>
          <a:bodyPr/>
          <a:lstStyle/>
          <a:p>
            <a:pPr eaLnBrk="1" hangingPunct="1"/>
            <a:r>
              <a:rPr lang="en-GB" dirty="0"/>
              <a:t>Appendix C</a:t>
            </a:r>
            <a:endParaRPr lang="en-GB" noProof="1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C43D2BE1-0744-696B-17AF-55943103E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630238"/>
            <a:ext cx="18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sz="900" noProof="1">
              <a:solidFill>
                <a:schemeClr val="bg1"/>
              </a:solidFill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1BC7C4E2-0C52-D64B-6A5E-9F97A3881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GB" sz="2200" noProof="1"/>
              <a:t>Documents identified via the webscraper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63707-9497-5CA5-3AA4-81BA5172D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5" y="1353225"/>
            <a:ext cx="6572250" cy="436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79487"/>
      </p:ext>
    </p:extLst>
  </p:cSld>
  <p:clrMapOvr>
    <a:masterClrMapping/>
  </p:clrMapOvr>
</p:sld>
</file>

<file path=ppt/theme/theme1.xml><?xml version="1.0" encoding="utf-8"?>
<a:theme xmlns:a="http://schemas.openxmlformats.org/drawingml/2006/main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la sapienz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la sapienza 1">
        <a:dk1>
          <a:srgbClr val="000000"/>
        </a:dk1>
        <a:lt1>
          <a:srgbClr val="FFFFFF"/>
        </a:lt1>
        <a:dk2>
          <a:srgbClr val="FFFFFF"/>
        </a:dk2>
        <a:lt2>
          <a:srgbClr val="2D2015"/>
        </a:lt2>
        <a:accent1>
          <a:srgbClr val="7C7C7C"/>
        </a:accent1>
        <a:accent2>
          <a:srgbClr val="FFFF7E"/>
        </a:accent2>
        <a:accent3>
          <a:srgbClr val="FFFFFF"/>
        </a:accent3>
        <a:accent4>
          <a:srgbClr val="000000"/>
        </a:accent4>
        <a:accent5>
          <a:srgbClr val="BFBFBF"/>
        </a:accent5>
        <a:accent6>
          <a:srgbClr val="E7E772"/>
        </a:accent6>
        <a:hlink>
          <a:srgbClr val="066778"/>
        </a:hlink>
        <a:folHlink>
          <a:srgbClr val="8300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Marco:Applications:Microsoft Office 2004:Modelli:Modelli personali:la sapienza.pot</Template>
  <TotalTime>3353</TotalTime>
  <Words>2319</Words>
  <Application>Microsoft Macintosh PowerPoint</Application>
  <PresentationFormat>On-screen Show (4:3)</PresentationFormat>
  <Paragraphs>469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la sapienza</vt:lpstr>
      <vt:lpstr>Bridging the Gap Between Quantitative Rankings and Qualitative Assessment in University Sustainability: A Framework for Italian Universities</vt:lpstr>
      <vt:lpstr>Motivation / Research Problem</vt:lpstr>
      <vt:lpstr>PowerPoint Presentation</vt:lpstr>
      <vt:lpstr>Achievement of Objectives</vt:lpstr>
      <vt:lpstr>Ontological Model</vt:lpstr>
      <vt:lpstr>Quantitative Methodology</vt:lpstr>
      <vt:lpstr>Web Scraper &amp; NLP Pipeline</vt:lpstr>
      <vt:lpstr>Strongest Potential Positive Drivers</vt:lpstr>
      <vt:lpstr>Strongest Potential Negative Drivers</vt:lpstr>
      <vt:lpstr>Efficiency vs Sustainability Matrix</vt:lpstr>
      <vt:lpstr>Quadrant Interpretation</vt:lpstr>
      <vt:lpstr>Quadrant Drivers (Positive)</vt:lpstr>
      <vt:lpstr>Quadrant Drivers (Negative)</vt:lpstr>
      <vt:lpstr>Qualitative Analysis of Sustainability Narratives</vt:lpstr>
      <vt:lpstr>Key Contributions of the Framework</vt:lpstr>
      <vt:lpstr>Limitations and Future Research</vt:lpstr>
      <vt:lpstr>Conclusion</vt:lpstr>
      <vt:lpstr>Appendix A</vt:lpstr>
      <vt:lpstr>Appendix B</vt:lpstr>
      <vt:lpstr>Appendix C</vt:lpstr>
    </vt:vector>
  </TitlesOfParts>
  <Manager/>
  <Company>- -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subject/>
  <dc:creator>- -</dc:creator>
  <cp:keywords/>
  <dc:description/>
  <cp:lastModifiedBy>eddie.k.project@outlook.com</cp:lastModifiedBy>
  <cp:revision>2</cp:revision>
  <cp:lastPrinted>2026-03-24T16:18:49Z</cp:lastPrinted>
  <dcterms:created xsi:type="dcterms:W3CDTF">2006-11-20T16:13:10Z</dcterms:created>
  <dcterms:modified xsi:type="dcterms:W3CDTF">2026-06-03T17:25:16Z</dcterms:modified>
  <cp:category/>
</cp:coreProperties>
</file>